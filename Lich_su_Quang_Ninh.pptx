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tổng quan — Quảng Ninh là tỉnh vùng Đông Bắc, có lịch sử lâu dài gắn với dựng nước và giữ nước.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dấu tích người tiền sử ở hang động, đảo trên vịnh; vùng đất thuộc Văn Lang, Âu Lạc.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Bắc thuộc: nhân dân tham gia khởi nghĩa Hai Bà Trưng và nhiều phong trào khác.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dấu mốc lớn: 938 Ngô Quyền, 1288 Trần Hưng Đạo, và Yên Tử – Trúc Lâm của Trần Nhân Tông.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Pháp khai thác than; công nhân mỏ thành lực lượng cách mạng; 1936 tổng bãi công; truyền thống Kỷ luật và Đồng tâm.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1945: kháng chiến chống Pháp rồi chống Mỹ; than phục vụ kinh tế và chiến đấu.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30/10/1963 hợp nhất Hồng Quảng + Hải Ninh; sau Đổi mới: than, du lịch Hạ Long, Móng Cái, công nghiệp-dịch vụ-hạ tầng.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halong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19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977640"/>
            <a:ext cx="12191695" cy="2880360"/>
          </a:xfrm>
          <a:prstGeom prst="rect">
            <a:avLst/>
          </a:prstGeom>
          <a:solidFill>
            <a:srgbClr val="061F19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847088"/>
            <a:ext cx="1234440" cy="54864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TỈNH QUẢNG NINH  ·  MIỀN ĐÔNG BẮC TỔ QUỐC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2450592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Chặng đường hàng nghìn năm gắn liền với công cuộc dựng nước và giữ nước của dân tộc Việt Nam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các hang động tiền sử trên Vịnh Hạ Long đến tỉnh năng động hôm nay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lịch sử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21208" y="1371600"/>
            <a:ext cx="100584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783080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728216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 &amp; Sơ sử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28216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nghìn năm trước – thế kỷ II TCN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06824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783080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9432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513832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Bắc thuộc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513832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II TCN – thế kỷ 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1783080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5048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8385048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99448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kiến độc lập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299448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X – thế kỷ XIX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1208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" y="3904488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728216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Pháp thuộc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728216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 – 1945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06824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06824" y="3904488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99432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35" name="Text 33"/>
          <p:cNvSpPr/>
          <p:nvPr/>
        </p:nvSpPr>
        <p:spPr>
          <a:xfrm>
            <a:off x="4599432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5513832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kỳ kháng chiến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5513832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 – 1975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92440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92440" y="3904488"/>
            <a:ext cx="91440" cy="184708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40" name="Shape 38"/>
          <p:cNvSpPr/>
          <p:nvPr/>
        </p:nvSpPr>
        <p:spPr>
          <a:xfrm>
            <a:off x="8385048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41" name="Text 39"/>
          <p:cNvSpPr/>
          <p:nvPr/>
        </p:nvSpPr>
        <p:spPr>
          <a:xfrm>
            <a:off x="8385048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9299448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Tỉnh Quảng Ninh hôm nay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299448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 – nay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1208" y="6144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chặng đường — một mạch nguồn liên tục từ quá khứ đến hiện tại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01  ·  GỐC TÍCH TIỀN NHÂN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tiền sử và sơ sử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297362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29736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nghìn năm trước — thế kỷ II TCN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pic>
        <p:nvPicPr>
          <p:cNvPr id="10" name="Image 0" descr="images/tien_s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Cư dân tiền sử trong hang động đá vôi nhìn ra vịnh (minh hoạ)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183794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người đã sinh sống ở vùng Quảng Ninh từ hàng nghìn năm trước, để lại dấu tích tại các hang động và đảo trên Vịnh Hạ Long.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46520" y="31455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026664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này thuộc lãnh thổ các nhà nước cổ Văn Lang và Âu Lạc — nơi cư trú của người Việt cổ.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4242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123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Địa bàn cư trú trải ven biển và các đảo đá vôi: nền tảng của văn hóa cư dân biển – rừng Đông Bắc.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46520" y="51663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52943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MỐC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56418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là bộ phận của Văn Lang – Âu Lạc, những nhà nước đầu tiên của người Việt.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02  ·  HƠN MỘT NGHÌN NĂM BẮC THUỘC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Bắc thuộc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207385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20738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II TCN — thế kỷ 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pic>
        <p:nvPicPr>
          <p:cNvPr id="10" name="Image 0" descr="images/hai_ba_tr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Hưởng ứng khởi nghĩa Hai Bà Trưng (40–43 SCN) (minh hoạ)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1837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nằm dưới sự cai trị của các triều đại phong kiến phương Bắc suốt hơn 1.000 năm.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46520" y="29169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279806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dân địa phương nhiều lần đứng lên đấu tranh, tham gia các cuộc khởi nghĩa chống Bắc thuộc.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38770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3758184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biểu là hưởng ứng khởi nghĩa Hai Bà Trưng và các phong trào đấu tranh liên tục khác trên vùng biên cương.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46520" y="51663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0A2E26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52943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 THỐNG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56418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Mảnh đất biên giới từ sớm đã hun đúc tinh thần bất khuất, không cam chịu ách đô hộ.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03  ·  BIÊN CƯƠNG TỎA SÁNG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phong kiến độc lập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1848917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1848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X — thế kỷ XIX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biên giới quan trọng: vừa phát triển kinh tế, vừa giữ vai trò phòng thủ.</a:t>
            </a:r>
            <a:endParaRPr lang="en-US" sz="1250" dirty="0"/>
          </a:p>
        </p:txBody>
      </p:sp>
      <p:pic>
        <p:nvPicPr>
          <p:cNvPr id="11" name="Image 0" descr="images/bach_d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257800" cy="2395728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21208" y="3886200"/>
            <a:ext cx="522122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3904488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Trận Bạch Đằng — bãi cọc ngăn thuyền địch (minh hoạ)</a:t>
            </a:r>
            <a:endParaRPr lang="en-US" sz="950" dirty="0"/>
          </a:p>
        </p:txBody>
      </p:sp>
      <p:pic>
        <p:nvPicPr>
          <p:cNvPr id="14" name="Image 1" descr="images/yen_t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34840"/>
            <a:ext cx="5257800" cy="1783080"/>
          </a:xfrm>
          <a:prstGeom prst="ellipse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8" y="5833872"/>
            <a:ext cx="522122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67512" y="5852160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Chùa Đồng trên đỉnh Yên Tử, trung tâm Thiền phái Trúc Lâm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87452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81928" y="2176272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9" name="Text 15"/>
          <p:cNvSpPr/>
          <p:nvPr/>
        </p:nvSpPr>
        <p:spPr>
          <a:xfrm>
            <a:off x="6281928" y="2222358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251192" y="202082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 QUYỀN ĐẠI PHÁ NAM HÁN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251192" y="2350008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sông Bạch Đằng, Ngô Quyền đánh bại quân Nam Hán, mở ra thời kỳ độc lập lâu dài của dân tộc.</a:t>
            </a:r>
            <a:endParaRPr lang="en-US" sz="1180" dirty="0"/>
          </a:p>
        </p:txBody>
      </p:sp>
      <p:sp>
        <p:nvSpPr>
          <p:cNvPr id="22" name="Shape 18"/>
          <p:cNvSpPr/>
          <p:nvPr/>
        </p:nvSpPr>
        <p:spPr>
          <a:xfrm>
            <a:off x="6080760" y="3392424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81928" y="3694176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4" name="Text 20"/>
          <p:cNvSpPr/>
          <p:nvPr/>
        </p:nvSpPr>
        <p:spPr>
          <a:xfrm>
            <a:off x="6281928" y="3740262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251192" y="353872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PHÁ NGUYÊN – MÔNG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251192" y="3867912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chỉ huy quân dân Đại Việt làm nên chiến thắng Bạch Đằng vang dội, tiêu diệt đoàn thuyền quân Nguyên.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080760" y="4910328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81928" y="5212080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9" name="Text 25"/>
          <p:cNvSpPr/>
          <p:nvPr/>
        </p:nvSpPr>
        <p:spPr>
          <a:xfrm>
            <a:off x="6281928" y="5258166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TỬ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251192" y="5056632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ĐẠO PHẬT TRÚC LÂM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251192" y="5385816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Tử trở thành trung tâm Thiền phái Trúc Lâm do Trần Nhân Tông sáng lập — ngọn núi tổ của Phật giáo Việt Nam.</a:t>
            </a:r>
            <a:endParaRPr lang="en-US" sz="1180" dirty="0"/>
          </a:p>
        </p:txBody>
      </p:sp>
      <p:sp>
        <p:nvSpPr>
          <p:cNvPr id="32" name="Text 2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04  ·  LÒ LỬA CÁCH MẠNG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Pháp thuộc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 — 1945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pic>
        <p:nvPicPr>
          <p:cNvPr id="10" name="Image 0" descr="images/mo_th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Thợ mỏ người Việt tại khu mỏ than thời thuộc địa (tư liệu minh hoạ)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191109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179222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dân Pháp ra sức khai thác các mỏ than lớn ở Hòn Gai, Cẩm Phả và Uông Bí.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46520" y="28712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27523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cấp công nhân mỏ hình thành, nhanh chóng trở thành lực lượng cách mạng quan trọng.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38313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371246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1936, nổ ra cuộc Tổng bãi công của thợ mỏ — tiếng vang lớn trong phong trào công nhân cả nước.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46520" y="50749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5202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“KỶ LUẬT VÀ ĐỒNG TÂM”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5550408"/>
            <a:ext cx="4709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 thống quý báu của thợ mỏ Quảng Ninh, được hun đúc từ những cuộc đấu tranh dưới hầm lò.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05  ·  VỪA SẢN XUẤT, VỪA CHIẾN ĐẤU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kỳ kháng chiến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 — 1975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pic>
        <p:nvPicPr>
          <p:cNvPr id="10" name="Image 0" descr="images/khang_chi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nhân mỏ hăng say sản xuất phục vụ kháng chiến (minh hoạ)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183794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Cách mạng Tháng Tám năm 1945, Quảng Ninh tham gia kháng chiến chống thực dân Pháp, sau đó là chống Mỹ cứu nước.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46520" y="32369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11810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Quân và dân vùng mỏ vừa giữ đất, vừa duy trì sản xuất trong điều kiện chiến tranh ác liệt.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4242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123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Quảng Ninh đóng vai trò quan trọng trong phát triển kinh tế và phục vụ đất nước ở hậu phương.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46520" y="53035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0A2E26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54315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KHẨU HIỆU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57790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“Tay búa, tay súng” — than từ Quảng Ninh theo đường vận tải ra tiền tuyến.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06  ·  TỈNH QUẢNG NINH THỜI HỘI NHẬP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năm 1963 đến nay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96012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220724"/>
            <a:ext cx="1848917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20724"/>
            <a:ext cx="1848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30/10/1963 — hiện tại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6903720" cy="1024128"/>
          </a:xfrm>
          <a:prstGeom prst="roundRect">
            <a:avLst>
              <a:gd name="adj" fmla="val 8929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54256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184708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30/10/1963 — THÀNH LẬP TỈNH QUẢNG NINH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81328" y="215798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cơ sở hợp nhất Khu Hồng Quảng và tỉnh Hải Ninh thành một đơn vị hành chính mới.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CÔNG CUỘC ĐỔI MỚI (1986) — BỐN TRỤ ĐỨT PHÁ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349300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6152" y="3456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thác &amp; chế biến than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2376" y="395020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 công nghiệp trụ cột, tiếp nối truyền thống vùng than lớn nhất cả nước.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041648" y="329184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42816" y="349300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23" name="Text 21"/>
          <p:cNvSpPr/>
          <p:nvPr/>
        </p:nvSpPr>
        <p:spPr>
          <a:xfrm>
            <a:off x="4242816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456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lịch — Vịnh Hạ Long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61104" y="395020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sản Thiên nhiên Thế giới, trung tâm du lịch biển hàng đầu Việt Nam.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02920" y="475488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" y="495604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16152" y="4919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mại biên giới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2376" y="541324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khẩu quốc tế Móng Cái, giao thương sôi động với Trung Quốc.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041648" y="475488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42816" y="495604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33" name="Text 31"/>
          <p:cNvSpPr/>
          <p:nvPr/>
        </p:nvSpPr>
        <p:spPr>
          <a:xfrm>
            <a:off x="4242816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54880" y="4919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nghiệp &amp; hạ tầng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261104" y="541324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nghiệp, dịch vụ hiện đại; cảng biển, giao thông kết nối đồng bộ.</a:t>
            </a:r>
            <a:endParaRPr lang="en-US" sz="1080" dirty="0"/>
          </a:p>
        </p:txBody>
      </p:sp>
      <p:pic>
        <p:nvPicPr>
          <p:cNvPr id="36" name="Image 0" descr="images/quang_ninh_n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691640"/>
            <a:ext cx="3986784" cy="2542032"/>
          </a:xfrm>
          <a:prstGeom prst="ellipse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717536" y="3849624"/>
            <a:ext cx="3950208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863840" y="3867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phố Hạ Long về đêm — diện mạo tỉnh năng động</a:t>
            </a:r>
            <a:endParaRPr lang="en-US" sz="950" dirty="0"/>
          </a:p>
        </p:txBody>
      </p:sp>
      <p:pic>
        <p:nvPicPr>
          <p:cNvPr id="39" name="Image 1" descr="images/mong_c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4416552"/>
            <a:ext cx="3986784" cy="1801368"/>
          </a:xfrm>
          <a:prstGeom prst="ellipse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717536" y="5833872"/>
            <a:ext cx="3950208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7863840" y="5852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khẩu quốc tế Móng Cái — đầu mối thương mại biên giới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thời gian lịch sử Quảng Ninh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21208" y="1371600"/>
            <a:ext cx="1005840" cy="45720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890772"/>
            <a:ext cx="10561320" cy="4114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3202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Cư dân sinh sống ở hang động, đảo trên vịnh; vùng đất thuộc Văn Lang – Âu Lạc.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6926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9318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9034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178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0007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 Quyền đại phá quân Nam Hán trên sông Bạch Đằng.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263042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1272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19" name="Shape 17"/>
          <p:cNvSpPr/>
          <p:nvPr/>
        </p:nvSpPr>
        <p:spPr>
          <a:xfrm>
            <a:off x="445434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150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294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6123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đánh tan quân Nguyên – Mông, trận Bạch Đằng vang dội.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29158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388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11550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1266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0410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1883–1945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2239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Pháp thuộc khai thác than Hòn Gai, Cẩm Phả, Uông Bí; công nhân mỏ hình thành.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95274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666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32" name="Shape 30"/>
          <p:cNvSpPr/>
          <p:nvPr/>
        </p:nvSpPr>
        <p:spPr>
          <a:xfrm>
            <a:off x="697382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6526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08355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bãi công thợ mỏ — truyền thống “Kỷ luật và Đồng tâm”.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61390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36" name="Shape 34"/>
          <p:cNvSpPr/>
          <p:nvPr/>
        </p:nvSpPr>
        <p:spPr>
          <a:xfrm>
            <a:off x="769620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37" name="Shape 35"/>
          <p:cNvSpPr/>
          <p:nvPr/>
        </p:nvSpPr>
        <p:spPr>
          <a:xfrm>
            <a:off x="943782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498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72642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30/10/1963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74471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lập tỉnh Quảng Ninh trên cơ sở Hồng Quảng và Hải Ninh.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927506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42" name="Shape 40"/>
          <p:cNvSpPr/>
          <p:nvPr/>
        </p:nvSpPr>
        <p:spPr>
          <a:xfrm>
            <a:off x="935736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9898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9614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38758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 – NAY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40587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mới: than, du lịch Hạ Long (UNESCO 1994), cửa khẩu Móng Cái, dịch vụ bứt phá.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1093622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1852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26"/>
          </a:solidFill>
          <a:ln/>
        </p:spPr>
      </p:sp>
      <p:pic>
        <p:nvPicPr>
          <p:cNvPr id="3" name="Image 0" descr="images/halong_hero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6492240" y="0"/>
            <a:ext cx="5715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0"/>
            <a:ext cx="5715000" cy="6858000"/>
          </a:xfrm>
          <a:prstGeom prst="rect">
            <a:avLst/>
          </a:prstGeom>
          <a:solidFill>
            <a:srgbClr val="061F19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2E26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658368"/>
            <a:ext cx="1143000" cy="54864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LỊCH SỬ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vùng đất, bốn giá trị cốt lõi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359152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98448" y="22219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THẾ CHIẾN LƯỢC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98448" y="252374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biên cương Đông Bắc, cửa ngõ biển – biên của Tổ quốc; vai trò quốc phòng trọng yếu từ thời dựng nước đến nay.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502920" y="3136392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3392424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98448" y="32552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NÔI NGÀNH THAN VIỆT NAM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298448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than lớn nhất nước — Hòn Gai, Cẩm Phả, Uông Bí — gắn với giai cấp công nhân mỏ và truyền thống đấu tranh.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02920" y="4169664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425696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98448" y="4288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SẢN THIÊN NHIÊN &amp; VĂN HÓA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298448" y="459028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Vịnh Hạ Long, non thiêng Yên Tử, chiến tích Bạch Đằng và tinh thần “Kỷ luật và Đồng tâm”.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502920" y="5202936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3232" y="5458968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98448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ĐỘNG LỰC PHÁT TRIỂN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298448" y="562356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 biển, du lịch, thương mại biên giới và công nghiệp hiện đại — đóng góp quan trọng cho đất nước.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6903720" y="5074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góp phần quan trọng vào sự phát triển kinh tế và lịch sử của đất nước.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quang_ninh_n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19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148840"/>
            <a:ext cx="12191695" cy="2606040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77256" y="2514600"/>
            <a:ext cx="1234440" cy="54864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Nơi thiên nhiên, lịch sử và con người cùng toả sáng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617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LẮNG NGHE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XroHub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Lịch sử tỉnh Quảng Ninh</dc:title>
  <dc:subject>Lịch sử dựng nước và giữ nước gắn với tỉnh Quảng Ninh</dc:subject>
  <dc:creator>Arena Agent</dc:creator>
  <cp:lastModifiedBy>Arena Agent</cp:lastModifiedBy>
  <cp:revision>1</cp:revision>
  <dcterms:created xsi:type="dcterms:W3CDTF">2026-08-27T05:04:03Z</dcterms:created>
  <dcterms:modified xsi:type="dcterms:W3CDTF">2026-08-27T05:04:03Z</dcterms:modified>
</cp:coreProperties>
</file>