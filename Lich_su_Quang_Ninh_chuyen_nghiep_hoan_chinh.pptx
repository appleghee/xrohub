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Mở đầu: giới thiệu tổng quan — Quảng Ninh là tỉnh vùng Đông Bắc, có lịch sử lâu dài gắn với dựng nước và giữ nước.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Nhấn mạnh: dấu tích người tiền sử ở hang động, đảo trên vịnh; vùng đất thuộc Văn Lang, Âu Lạc.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Bắc thuộc: nhân dân tham gia khởi nghĩa Hai Bà Trưng và nhiều phong trào khác.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 dấu mốc lớn: 938 Ngô Quyền, 1288 Trần Hưng Đạo, và Yên Tử – Trúc Lâm của Trần Nhân Tông.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Pháp khai thác than; công nhân mỏ thành lực lượng cách mạng; 1936 tổng bãi công; truyền thống Kỷ luật và Đồng tâm.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Sau 1945: kháng chiến chống Pháp rồi chống Mỹ; than phục vụ kinh tế và chiến đấu.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30/10/1963 hợp nhất Hồng Quảng + Hải Ninh; sau Đổi mới: than, du lịch Hạ Long, Móng Cái, công nghiệp-dịch vụ-hạ tầng.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Kết luận: Quảng Ninh là nơi thiên nhiên, lịch sử và con người cùng tạo nên một bản sắc giàu sức sống.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Nguồn kiểm chứng: 
1. https://www.quangninh.gov.vn/Trang/ChiTietBVGioiThieu.aspx?bvid=458&amp;Cat=Qu%C3%A1+tr%C3%ACnh+h%C3%ACnh+th%C3%A0nh+v%C3%A0+ph%C3%A1t+tri%E1%BB%83n
2. https://www.quangninh.gov.vn/Trang/ChiTietBVGioiThieu.aspx?bvid=544
3. https://quangninh.gov.vn/Trang/ChiTietTinTuc.aspx?nid=146111
4. https://whc.unesco.org/en/list/672/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image" Target="../media/image-5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quangninh.gov.vn/Trang/ChiTietBVGioiThieu.aspx?bvid=458&amp;Cat=Qu%C3%A1+tr%C3%ACnh+h%C3%ACnh+th%C3%A0nh+v%C3%A0+ph%C3%A1t+tri%E1%BB%83n" TargetMode="External"/><Relationship Id="rId2" Type="http://schemas.openxmlformats.org/officeDocument/2006/relationships/hyperlink" Target="https://www.quangninh.gov.vn/Trang/ChiTietBVGioiThieu.aspx?bvid=544" TargetMode="External"/><Relationship Id="rId3" Type="http://schemas.openxmlformats.org/officeDocument/2006/relationships/hyperlink" Target="https://quangninh.gov.vn/Trang/ChiTietTinTuc.aspx?nid=146111" TargetMode="External"/><Relationship Id="rId4" Type="http://schemas.openxmlformats.org/officeDocument/2006/relationships/hyperlink" Target="https://whc.unesco.org/en/list/672/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halong_her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19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977640"/>
            <a:ext cx="12191695" cy="2880360"/>
          </a:xfrm>
          <a:prstGeom prst="rect">
            <a:avLst/>
          </a:prstGeom>
          <a:solidFill>
            <a:srgbClr val="061F19">
              <a:alpha val="82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868680" y="20299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TỈNH QUẢNG NINH  ·  MIỀN ĐÔNG BẮC TỔ QUỐC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41248" y="2450592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</a:t>
            </a:r>
            <a:endParaRPr lang="en-US" sz="50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</a:t>
            </a:r>
            <a:endParaRPr lang="en-US" sz="5000" dirty="0"/>
          </a:p>
        </p:txBody>
      </p:sp>
      <p:sp>
        <p:nvSpPr>
          <p:cNvPr id="7" name="Text 4"/>
          <p:cNvSpPr/>
          <p:nvPr/>
        </p:nvSpPr>
        <p:spPr>
          <a:xfrm>
            <a:off x="868680" y="4434840"/>
            <a:ext cx="8961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i="1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Chặng đường hàng nghìn năm gắn liền với công cuộc dựng nước và giữ nước của dân tộc Việt Nam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598932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các hang động tiền sử trên Vịnh Hạ Long đến tỉnh năng động hôm nay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4754880" cy="4754880"/>
          </a:xfrm>
          <a:prstGeom prst="ellipse">
            <a:avLst/>
          </a:prstGeom>
          <a:solidFill>
            <a:srgbClr val="EFE7D6"/>
          </a:solidFill>
          <a:ln/>
        </p:spPr>
      </p:sp>
      <p:sp>
        <p:nvSpPr>
          <p:cNvPr id="4" name="Shape 2"/>
          <p:cNvSpPr/>
          <p:nvPr/>
        </p:nvSpPr>
        <p:spPr>
          <a:xfrm>
            <a:off x="-1463040" y="5120640"/>
            <a:ext cx="3291840" cy="3291840"/>
          </a:xfrm>
          <a:prstGeom prst="ellipse">
            <a:avLst/>
          </a:prstGeom>
          <a:solidFill>
            <a:srgbClr val="EFE7D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MỤC LỤC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676656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Lộ trình lịch sử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521208" y="178308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13816" y="2093976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9" name="Text 7"/>
          <p:cNvSpPr/>
          <p:nvPr/>
        </p:nvSpPr>
        <p:spPr>
          <a:xfrm>
            <a:off x="813816" y="2136770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300" dirty="0"/>
          </a:p>
        </p:txBody>
      </p:sp>
      <p:sp>
        <p:nvSpPr>
          <p:cNvPr id="10" name="Text 8"/>
          <p:cNvSpPr/>
          <p:nvPr/>
        </p:nvSpPr>
        <p:spPr>
          <a:xfrm>
            <a:off x="1728216" y="2112264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 &amp; Sơ sử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728216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nghìn năm trước – thế kỷ II TCN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306824" y="178308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99432" y="2093976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4" name="Text 12"/>
          <p:cNvSpPr/>
          <p:nvPr/>
        </p:nvSpPr>
        <p:spPr>
          <a:xfrm>
            <a:off x="4599432" y="2136770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300" dirty="0"/>
          </a:p>
        </p:txBody>
      </p:sp>
      <p:sp>
        <p:nvSpPr>
          <p:cNvPr id="15" name="Text 13"/>
          <p:cNvSpPr/>
          <p:nvPr/>
        </p:nvSpPr>
        <p:spPr>
          <a:xfrm>
            <a:off x="5513832" y="2112264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Bắc thuộc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513832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II TCN – thế kỷ X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092440" y="1783080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385048" y="2093976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9" name="Text 17"/>
          <p:cNvSpPr/>
          <p:nvPr/>
        </p:nvSpPr>
        <p:spPr>
          <a:xfrm>
            <a:off x="8385048" y="2136770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300" dirty="0"/>
          </a:p>
        </p:txBody>
      </p:sp>
      <p:sp>
        <p:nvSpPr>
          <p:cNvPr id="20" name="Text 18"/>
          <p:cNvSpPr/>
          <p:nvPr/>
        </p:nvSpPr>
        <p:spPr>
          <a:xfrm>
            <a:off x="9299448" y="2112264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Phong kiến độc lập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299448" y="2862072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X – thế kỷ XIX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21208" y="3904488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13816" y="4215384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4" name="Text 22"/>
          <p:cNvSpPr/>
          <p:nvPr/>
        </p:nvSpPr>
        <p:spPr>
          <a:xfrm>
            <a:off x="813816" y="4258178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1728216" y="42336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Pháp thuộc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1728216" y="4983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 – 1945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306824" y="3904488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599432" y="4215384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9" name="Text 27"/>
          <p:cNvSpPr/>
          <p:nvPr/>
        </p:nvSpPr>
        <p:spPr>
          <a:xfrm>
            <a:off x="4599432" y="4258178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300" dirty="0"/>
          </a:p>
        </p:txBody>
      </p:sp>
      <p:sp>
        <p:nvSpPr>
          <p:cNvPr id="30" name="Text 28"/>
          <p:cNvSpPr/>
          <p:nvPr/>
        </p:nvSpPr>
        <p:spPr>
          <a:xfrm>
            <a:off x="5513832" y="42336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kỳ kháng chiến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5513832" y="4983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 – 1975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8092440" y="3904488"/>
            <a:ext cx="3529584" cy="1847088"/>
          </a:xfrm>
          <a:prstGeom prst="roundRect">
            <a:avLst>
              <a:gd name="adj" fmla="val 495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8385048" y="4215384"/>
            <a:ext cx="713232" cy="71323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34" name="Text 32"/>
          <p:cNvSpPr/>
          <p:nvPr/>
        </p:nvSpPr>
        <p:spPr>
          <a:xfrm>
            <a:off x="8385048" y="4258178"/>
            <a:ext cx="713232" cy="627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300" dirty="0"/>
          </a:p>
        </p:txBody>
      </p:sp>
      <p:sp>
        <p:nvSpPr>
          <p:cNvPr id="35" name="Text 33"/>
          <p:cNvSpPr/>
          <p:nvPr/>
        </p:nvSpPr>
        <p:spPr>
          <a:xfrm>
            <a:off x="9299448" y="4233672"/>
            <a:ext cx="211226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Tỉnh Quảng Ninh hôm nay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9299448" y="4983480"/>
            <a:ext cx="21122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 – nay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521208" y="614476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Sáu chặng đường — một mạch nguồn liên tục từ quá khứ đến hiện tại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01  ·  GỐC TÍCH TIỀN NHÂN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tiền sử và sơ sử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664208" y="1220724"/>
            <a:ext cx="297362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220724"/>
            <a:ext cx="297362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Hàng nghìn năm trước — thế kỷ II TCN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600" dirty="0"/>
          </a:p>
        </p:txBody>
      </p:sp>
      <p:pic>
        <p:nvPicPr>
          <p:cNvPr id="9" name="Image 0" descr="images/tien_su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Cư dân tiền sử trong hang động đá vôi nhìn ra vịnh (minh hoạ)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183794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 người đã sinh sống ở vùng Quảng Ninh từ hàng nghìn năm trước, để lại dấu tích tại các hang động và đảo trên Vịnh Hạ Long.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31455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026664"/>
            <a:ext cx="4983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Khu vực này thuộc lãnh thổ các nhà nước cổ Văn Lang và Âu Lạc — nơi cư trú của người Việt cổ.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46520" y="4242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41239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Địa bàn cư trú trải ven biển và các đảo đá vôi: nền tảng của văn hóa cư dân biển – rừng Đông Bắc.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46520" y="51663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E3A83B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20840" y="52943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DẤU MỐC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20840" y="56418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61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 là bộ phận của Văn Lang – Âu Lạc, những nhà nước đầu tiên của người Việt.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02  ·  HƠN MỘT NGHÌN NĂM BẮC THUỘC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Bắc thuộc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664208" y="1220724"/>
            <a:ext cx="207385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220724"/>
            <a:ext cx="207385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II TCN — thế kỷ 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600" dirty="0"/>
          </a:p>
        </p:txBody>
      </p:sp>
      <p:pic>
        <p:nvPicPr>
          <p:cNvPr id="9" name="Image 0" descr="images/hai_ba_tru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Hưởng ứng khởi nghĩa Hai Bà Trưng (40–43 SCN) (minh hoạ)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18379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 nằm dưới sự cai trị của các triều đại phong kiến phương Bắc suốt hơn 1.000 năm.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29169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279806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Nhân dân địa phương nhiều lần đứng lên đấu tranh, tham gia các cuộc khởi nghĩa chống Bắc thuộc.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46520" y="387705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3758184"/>
            <a:ext cx="4983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Tiêu biểu là hưởng ứng khởi nghĩa Hai Bà Trưng và các phong trào đấu tranh liên tục khác trên vùng biên cương.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46520" y="5166360"/>
            <a:ext cx="5257800" cy="960120"/>
          </a:xfrm>
          <a:prstGeom prst="roundRect">
            <a:avLst>
              <a:gd name="adj" fmla="val 9524"/>
            </a:avLst>
          </a:prstGeom>
          <a:solidFill>
            <a:srgbClr val="0A2E26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20840" y="529437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 THỐNG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20840" y="5641848"/>
            <a:ext cx="470916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Mảnh đất biên giới từ sớm đã hun đúc tinh thần bất khuất, không cam chịu ách đô hộ.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03  ·  BIÊN CƯƠNG TỎA SÁNG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phong kiến độc lập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664208" y="1220724"/>
            <a:ext cx="1848917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220724"/>
            <a:ext cx="18489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Thế kỷ X — thế kỷ XIX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02920" y="1463040"/>
            <a:ext cx="11155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biên giới quan trọng: vừa phát triển kinh tế, vừa giữ vai trò phòng thủ.</a:t>
            </a:r>
            <a:endParaRPr lang="en-US" sz="1250" dirty="0"/>
          </a:p>
        </p:txBody>
      </p:sp>
      <p:pic>
        <p:nvPicPr>
          <p:cNvPr id="10" name="Image 0" descr="images/bach_dang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74520"/>
            <a:ext cx="5257800" cy="2395728"/>
          </a:xfrm>
          <a:prstGeom prst="ellipse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21208" y="3886200"/>
            <a:ext cx="522122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2" name="Text 9"/>
          <p:cNvSpPr/>
          <p:nvPr/>
        </p:nvSpPr>
        <p:spPr>
          <a:xfrm>
            <a:off x="667512" y="3904488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Trận Bạch Đằng — bãi cọc ngăn thuyền địch (minh hoạ)</a:t>
            </a:r>
            <a:endParaRPr lang="en-US" sz="950" dirty="0"/>
          </a:p>
        </p:txBody>
      </p:sp>
      <p:pic>
        <p:nvPicPr>
          <p:cNvPr id="13" name="Image 1" descr="images/yen_tu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434840"/>
            <a:ext cx="5257800" cy="1783080"/>
          </a:xfrm>
          <a:prstGeom prst="ellipse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21208" y="5833872"/>
            <a:ext cx="522122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5" name="Text 11"/>
          <p:cNvSpPr/>
          <p:nvPr/>
        </p:nvSpPr>
        <p:spPr>
          <a:xfrm>
            <a:off x="667512" y="5852160"/>
            <a:ext cx="4928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Chùa Đồng trên đỉnh Yên Tử, trung tâm Thiền phái Trúc Lâm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080760" y="1874520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81928" y="2176272"/>
            <a:ext cx="768096" cy="7680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8" name="Text 14"/>
          <p:cNvSpPr/>
          <p:nvPr/>
        </p:nvSpPr>
        <p:spPr>
          <a:xfrm>
            <a:off x="6281928" y="2222358"/>
            <a:ext cx="768096" cy="675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7251192" y="2020824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 QUYỀN ĐẠI PHÁ NAM HÁN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7251192" y="2350008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sông Bạch Đằng, Ngô Quyền đánh bại quân Nam Hán, mở ra thời kỳ độc lập lâu dài của dân tộc.</a:t>
            </a:r>
            <a:endParaRPr lang="en-US" sz="1180" dirty="0"/>
          </a:p>
        </p:txBody>
      </p:sp>
      <p:sp>
        <p:nvSpPr>
          <p:cNvPr id="21" name="Shape 17"/>
          <p:cNvSpPr/>
          <p:nvPr/>
        </p:nvSpPr>
        <p:spPr>
          <a:xfrm>
            <a:off x="6080760" y="3392424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6281928" y="3694176"/>
            <a:ext cx="768096" cy="7680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3" name="Text 19"/>
          <p:cNvSpPr/>
          <p:nvPr/>
        </p:nvSpPr>
        <p:spPr>
          <a:xfrm>
            <a:off x="6281928" y="3740262"/>
            <a:ext cx="768096" cy="675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1288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7251192" y="3538728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HƯNG ĐẠO PHÁ NGUYÊN – MÔNG</a:t>
            </a:r>
            <a:endParaRPr lang="en-US" sz="1250" dirty="0"/>
          </a:p>
        </p:txBody>
      </p:sp>
      <p:sp>
        <p:nvSpPr>
          <p:cNvPr id="25" name="Text 21"/>
          <p:cNvSpPr/>
          <p:nvPr/>
        </p:nvSpPr>
        <p:spPr>
          <a:xfrm>
            <a:off x="7251192" y="3867912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Hưng Đạo chỉ huy quân dân Đại Việt làm nên chiến thắng Bạch Đằng vang dội, tiêu diệt đoàn thuyền quân Nguyên.</a:t>
            </a:r>
            <a:endParaRPr lang="en-US" sz="1180" dirty="0"/>
          </a:p>
        </p:txBody>
      </p:sp>
      <p:sp>
        <p:nvSpPr>
          <p:cNvPr id="26" name="Shape 22"/>
          <p:cNvSpPr/>
          <p:nvPr/>
        </p:nvSpPr>
        <p:spPr>
          <a:xfrm>
            <a:off x="6080760" y="4910328"/>
            <a:ext cx="5605272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81928" y="5212080"/>
            <a:ext cx="768096" cy="76809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8" name="Text 24"/>
          <p:cNvSpPr/>
          <p:nvPr/>
        </p:nvSpPr>
        <p:spPr>
          <a:xfrm>
            <a:off x="6281928" y="5258166"/>
            <a:ext cx="768096" cy="6759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 TỬ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7251192" y="5056632"/>
            <a:ext cx="4233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ĐẠO PHẬT TRÚC LÂM</a:t>
            </a:r>
            <a:endParaRPr lang="en-US" sz="1250" dirty="0"/>
          </a:p>
        </p:txBody>
      </p:sp>
      <p:sp>
        <p:nvSpPr>
          <p:cNvPr id="30" name="Text 26"/>
          <p:cNvSpPr/>
          <p:nvPr/>
        </p:nvSpPr>
        <p:spPr>
          <a:xfrm>
            <a:off x="7251192" y="5385816"/>
            <a:ext cx="42336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8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Yên Tử trở thành trung tâm Thiền phái Trúc Lâm do Trần Nhân Tông sáng lập — ngọn núi tổ của Phật giáo Việt Nam.</a:t>
            </a:r>
            <a:endParaRPr lang="en-US" sz="1180" dirty="0"/>
          </a:p>
        </p:txBody>
      </p:sp>
      <p:sp>
        <p:nvSpPr>
          <p:cNvPr id="31" name="Text 27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32" name="Text 28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04  ·  LÒ LỬA CÁCH MẠNG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Pháp thuộc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664208" y="1220724"/>
            <a:ext cx="109910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220724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 — 1945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600" dirty="0"/>
          </a:p>
        </p:txBody>
      </p:sp>
      <p:pic>
        <p:nvPicPr>
          <p:cNvPr id="9" name="Image 0" descr="images/mo_th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Thợ mỏ người Việt tại khu mỏ than thời thuộc địa (tư liệu minh hoạ)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91109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179222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Thực dân Pháp ra sức khai thác các mỏ than lớn ở Hòn Gai, Cẩm Phả và Uông Bí.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28712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27523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Giai cấp công nhân mỏ hình thành, nhanh chóng trở thành lực lượng cách mạng quan trọng.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46520" y="383133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3712464"/>
            <a:ext cx="4983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Năm 1936, nổ ra cuộc Tổng bãi công của thợ mỏ — tiếng vang lớn trong phong trào công nhân cả nước.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46520" y="5074920"/>
            <a:ext cx="5257800" cy="1051560"/>
          </a:xfrm>
          <a:prstGeom prst="roundRect">
            <a:avLst>
              <a:gd name="adj" fmla="val 8696"/>
            </a:avLst>
          </a:prstGeom>
          <a:solidFill>
            <a:srgbClr val="E3A83B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20840" y="52029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“KỶ LUẬT VÀ ĐỒNG TÂM”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20840" y="5550408"/>
            <a:ext cx="470916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80" b="1" dirty="0">
                <a:solidFill>
                  <a:srgbClr val="061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Truyền thống quý báu của thợ mỏ Quảng Ninh, được hun đúc từ những cuộc đấu tranh dưới hầm lò.</a:t>
            </a:r>
            <a:endParaRPr lang="en-US" sz="128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05  ·  VỪA SẢN XUẤT, VỪA CHIẾN ĐẤU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Thời kỳ kháng chiến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664208" y="1220724"/>
            <a:ext cx="1099109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220724"/>
            <a:ext cx="1099109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1945 — 1975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2600" dirty="0"/>
          </a:p>
        </p:txBody>
      </p:sp>
      <p:pic>
        <p:nvPicPr>
          <p:cNvPr id="9" name="Image 0" descr="images/khang_chie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91640"/>
            <a:ext cx="5532120" cy="4526280"/>
          </a:xfrm>
          <a:prstGeom prst="ellipse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521208" y="5833872"/>
            <a:ext cx="5495544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11" name="Text 8"/>
          <p:cNvSpPr/>
          <p:nvPr/>
        </p:nvSpPr>
        <p:spPr>
          <a:xfrm>
            <a:off x="667512" y="5852160"/>
            <a:ext cx="52029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nhân mỏ hăng say sản xuất phục vụ kháng chiến (minh hoạ)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6446520" y="1956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1837944"/>
            <a:ext cx="4983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Cách mạng Tháng Tám năm 1945, Quảng Ninh tham gia kháng chiến chống thực dân Pháp, sau đó là chống Mỹ cứu nước.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46520" y="323697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11810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Quân và dân vùng mỏ vừa giữ đất, vừa duy trì sản xuất trong điều kiện chiến tranh ác liệt.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446520" y="4242816"/>
            <a:ext cx="118872" cy="118872"/>
          </a:xfrm>
          <a:prstGeom prst="roundRect">
            <a:avLst>
              <a:gd name="adj" fmla="val 23077"/>
            </a:avLst>
          </a:prstGeom>
          <a:solidFill>
            <a:srgbClr val="E3A83B"/>
          </a:solidFill>
          <a:ln/>
        </p:spPr>
      </p:sp>
      <p:sp>
        <p:nvSpPr>
          <p:cNvPr id="17" name="Text 14"/>
          <p:cNvSpPr/>
          <p:nvPr/>
        </p:nvSpPr>
        <p:spPr>
          <a:xfrm>
            <a:off x="6720840" y="4123944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40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 Quảng Ninh đóng vai trò quan trọng trong phát triển kinh tế và phục vụ đất nước ở hậu phương.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46520" y="5303520"/>
            <a:ext cx="5257800" cy="822960"/>
          </a:xfrm>
          <a:prstGeom prst="roundRect">
            <a:avLst>
              <a:gd name="adj" fmla="val 11111"/>
            </a:avLst>
          </a:prstGeom>
          <a:solidFill>
            <a:srgbClr val="0A2E26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720840" y="5431536"/>
            <a:ext cx="4709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KHẨU HIỆU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6720840" y="5779008"/>
            <a:ext cx="4709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“Tay búa, tay súng” — than từ Quảng Ninh theo đường vận tải ra tiền tuyến.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9326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CHƯƠNG 06  ·  TỈNH QUẢNG NINH THỜI HỘI NHẬP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58368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Từ năm 1963 đến nay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1664208" y="1220724"/>
            <a:ext cx="1848917" cy="310896"/>
          </a:xfrm>
          <a:prstGeom prst="roundRect">
            <a:avLst>
              <a:gd name="adj" fmla="val 50000"/>
            </a:avLst>
          </a:prstGeom>
          <a:solidFill>
            <a:srgbClr val="0A2E26"/>
          </a:solidFill>
          <a:ln/>
        </p:spPr>
      </p:sp>
      <p:sp>
        <p:nvSpPr>
          <p:cNvPr id="6" name="Text 4"/>
          <p:cNvSpPr/>
          <p:nvPr/>
        </p:nvSpPr>
        <p:spPr>
          <a:xfrm>
            <a:off x="1664208" y="1220724"/>
            <a:ext cx="1848917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30/10/1963 — hiện tại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1201400" y="384048"/>
            <a:ext cx="804672" cy="8046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8" name="Text 6"/>
          <p:cNvSpPr/>
          <p:nvPr/>
        </p:nvSpPr>
        <p:spPr>
          <a:xfrm>
            <a:off x="11201400" y="432328"/>
            <a:ext cx="804672" cy="70811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02920" y="1691640"/>
            <a:ext cx="6903720" cy="1024128"/>
          </a:xfrm>
          <a:prstGeom prst="roundRect">
            <a:avLst>
              <a:gd name="adj" fmla="val 8929"/>
            </a:avLst>
          </a:prstGeom>
          <a:solidFill>
            <a:srgbClr val="E3A83B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1920240"/>
            <a:ext cx="566928" cy="566928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1954256"/>
            <a:ext cx="566928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1963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481328" y="1847088"/>
            <a:ext cx="5806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NGÀY 30/10/1963 — THÀNH LẬP TỈNH QUẢNG NINH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1481328" y="2157984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061F1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Trên cơ sở hợp nhất Khu Hồng Quảng và tỉnh Hải Ninh thành một đơn vị hành chính mới.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02920" y="2926080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SAU CÔNG CUỘC ĐỔI MỚI (1986) — BỐN TRỤ ĐỨT PHÁ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02920" y="329184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04088" y="349300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17" name="Text 15"/>
          <p:cNvSpPr/>
          <p:nvPr/>
        </p:nvSpPr>
        <p:spPr>
          <a:xfrm>
            <a:off x="704088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16152" y="3456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Khai thác &amp; chế biến than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22376" y="395020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Ngành công nghiệp trụ cột, tiếp nối truyền thống vùng than lớn nhất cả nước.</a:t>
            </a:r>
            <a:endParaRPr lang="en-US" sz="1080" dirty="0"/>
          </a:p>
        </p:txBody>
      </p:sp>
      <p:sp>
        <p:nvSpPr>
          <p:cNvPr id="20" name="Shape 18"/>
          <p:cNvSpPr/>
          <p:nvPr/>
        </p:nvSpPr>
        <p:spPr>
          <a:xfrm>
            <a:off x="4041648" y="329184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42816" y="349300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22" name="Text 20"/>
          <p:cNvSpPr/>
          <p:nvPr/>
        </p:nvSpPr>
        <p:spPr>
          <a:xfrm>
            <a:off x="4242816" y="3493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754880" y="345643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 lịch — Vịnh Hạ Long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261104" y="395020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sản Thiên nhiên Thế giới, trung tâm du lịch biển hàng đầu Việt Nam.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02920" y="475488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04088" y="495604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27" name="Text 25"/>
          <p:cNvSpPr/>
          <p:nvPr/>
        </p:nvSpPr>
        <p:spPr>
          <a:xfrm>
            <a:off x="704088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216152" y="4919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Thương mại biên giới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722376" y="541324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khẩu quốc tế Móng Cái, giao thương sôi động với Trung Quốc.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4041648" y="4754880"/>
            <a:ext cx="3364992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242816" y="4956048"/>
            <a:ext cx="384048" cy="384048"/>
          </a:xfrm>
          <a:prstGeom prst="ellipse">
            <a:avLst/>
          </a:prstGeom>
          <a:solidFill>
            <a:srgbClr val="12715A"/>
          </a:solidFill>
          <a:ln/>
        </p:spPr>
      </p:sp>
      <p:sp>
        <p:nvSpPr>
          <p:cNvPr id="32" name="Text 30"/>
          <p:cNvSpPr/>
          <p:nvPr/>
        </p:nvSpPr>
        <p:spPr>
          <a:xfrm>
            <a:off x="4242816" y="49560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754880" y="4919472"/>
            <a:ext cx="24963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25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nghiệp &amp; hạ tầng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261104" y="5413248"/>
            <a:ext cx="29535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8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Công nghiệp, dịch vụ hiện đại; cảng biển, giao thông kết nối đồng bộ.</a:t>
            </a:r>
            <a:endParaRPr lang="en-US" sz="1080" dirty="0"/>
          </a:p>
        </p:txBody>
      </p:sp>
      <p:pic>
        <p:nvPicPr>
          <p:cNvPr id="35" name="Image 0" descr="images/quang_ninh_n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99248" y="1691640"/>
            <a:ext cx="3986784" cy="2542032"/>
          </a:xfrm>
          <a:prstGeom prst="ellipse">
            <a:avLst/>
          </a:prstGeom>
        </p:spPr>
      </p:pic>
      <p:sp>
        <p:nvSpPr>
          <p:cNvPr id="36" name="Shape 33"/>
          <p:cNvSpPr/>
          <p:nvPr/>
        </p:nvSpPr>
        <p:spPr>
          <a:xfrm>
            <a:off x="7717536" y="3849624"/>
            <a:ext cx="3950208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37" name="Text 34"/>
          <p:cNvSpPr/>
          <p:nvPr/>
        </p:nvSpPr>
        <p:spPr>
          <a:xfrm>
            <a:off x="7863840" y="3867912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phố Hạ Long về đêm — diện mạo tỉnh năng động</a:t>
            </a:r>
            <a:endParaRPr lang="en-US" sz="950" dirty="0"/>
          </a:p>
        </p:txBody>
      </p:sp>
      <p:pic>
        <p:nvPicPr>
          <p:cNvPr id="38" name="Image 1" descr="images/mong_cai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4416552"/>
            <a:ext cx="3986784" cy="1801368"/>
          </a:xfrm>
          <a:prstGeom prst="ellipse">
            <a:avLst/>
          </a:prstGeom>
        </p:spPr>
      </p:pic>
      <p:sp>
        <p:nvSpPr>
          <p:cNvPr id="39" name="Shape 35"/>
          <p:cNvSpPr/>
          <p:nvPr/>
        </p:nvSpPr>
        <p:spPr>
          <a:xfrm>
            <a:off x="7717536" y="5833872"/>
            <a:ext cx="3950208" cy="384048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40" name="Text 36"/>
          <p:cNvSpPr/>
          <p:nvPr/>
        </p:nvSpPr>
        <p:spPr>
          <a:xfrm>
            <a:off x="7863840" y="58521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Cửa khẩu quốc tế Móng Cái — đầu mối thương mại biên giới</a:t>
            </a:r>
            <a:endParaRPr lang="en-US" sz="950" dirty="0"/>
          </a:p>
        </p:txBody>
      </p:sp>
      <p:sp>
        <p:nvSpPr>
          <p:cNvPr id="41" name="Text 37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42" name="Text 38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84048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QUAN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502920" y="676656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Dòng thời gian lịch sử Quảng Ninh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3890772"/>
            <a:ext cx="10561320" cy="41148"/>
          </a:xfrm>
          <a:prstGeom prst="rect">
            <a:avLst/>
          </a:prstGeom>
          <a:solidFill>
            <a:srgbClr val="E3A83B"/>
          </a:solidFill>
          <a:ln/>
        </p:spPr>
      </p:sp>
      <p:sp>
        <p:nvSpPr>
          <p:cNvPr id="6" name="Shape 4"/>
          <p:cNvSpPr/>
          <p:nvPr/>
        </p:nvSpPr>
        <p:spPr>
          <a:xfrm>
            <a:off x="113202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7" name="Shape 5"/>
          <p:cNvSpPr/>
          <p:nvPr/>
        </p:nvSpPr>
        <p:spPr>
          <a:xfrm>
            <a:off x="32918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2062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TIỀN SỬ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3891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Cư dân sinh sống ở hang động, đảo trên vịnh; vùng đất thuộc Văn Lang – Âu Lạc.</a:t>
            </a:r>
            <a:endParaRPr lang="en-US" sz="960" dirty="0"/>
          </a:p>
        </p:txBody>
      </p:sp>
      <p:sp>
        <p:nvSpPr>
          <p:cNvPr id="10" name="Shape 8"/>
          <p:cNvSpPr/>
          <p:nvPr/>
        </p:nvSpPr>
        <p:spPr>
          <a:xfrm>
            <a:off x="96926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1" name="Shape 9"/>
          <p:cNvSpPr/>
          <p:nvPr/>
        </p:nvSpPr>
        <p:spPr>
          <a:xfrm>
            <a:off x="105156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12" name="Shape 10"/>
          <p:cNvSpPr/>
          <p:nvPr/>
        </p:nvSpPr>
        <p:spPr>
          <a:xfrm>
            <a:off x="2793187" y="3931920"/>
            <a:ext cx="21946" cy="137160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13" name="Shape 11"/>
          <p:cNvSpPr/>
          <p:nvPr/>
        </p:nvSpPr>
        <p:spPr>
          <a:xfrm>
            <a:off x="1990344" y="4270248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81784" y="43799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938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2100072" y="4745736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Ngô Quyền đại phá quân Nam Hán trên sông Bạch Đằng.</a:t>
            </a:r>
            <a:endParaRPr lang="en-US" sz="960" dirty="0"/>
          </a:p>
        </p:txBody>
      </p:sp>
      <p:sp>
        <p:nvSpPr>
          <p:cNvPr id="16" name="Shape 14"/>
          <p:cNvSpPr/>
          <p:nvPr/>
        </p:nvSpPr>
        <p:spPr>
          <a:xfrm>
            <a:off x="263042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7" name="Shape 15"/>
          <p:cNvSpPr/>
          <p:nvPr/>
        </p:nvSpPr>
        <p:spPr>
          <a:xfrm>
            <a:off x="271272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18" name="Shape 16"/>
          <p:cNvSpPr/>
          <p:nvPr/>
        </p:nvSpPr>
        <p:spPr>
          <a:xfrm>
            <a:off x="445434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19" name="Shape 17"/>
          <p:cNvSpPr/>
          <p:nvPr/>
        </p:nvSpPr>
        <p:spPr>
          <a:xfrm>
            <a:off x="365150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74294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1288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76123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Trần Hưng Đạo đánh tan quân Nguyên – Mông, trận Bạch Đằng vang dội.</a:t>
            </a:r>
            <a:endParaRPr lang="en-US" sz="960" dirty="0"/>
          </a:p>
        </p:txBody>
      </p:sp>
      <p:sp>
        <p:nvSpPr>
          <p:cNvPr id="22" name="Shape 20"/>
          <p:cNvSpPr/>
          <p:nvPr/>
        </p:nvSpPr>
        <p:spPr>
          <a:xfrm>
            <a:off x="429158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3" name="Shape 21"/>
          <p:cNvSpPr/>
          <p:nvPr/>
        </p:nvSpPr>
        <p:spPr>
          <a:xfrm>
            <a:off x="437388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24" name="Shape 22"/>
          <p:cNvSpPr/>
          <p:nvPr/>
        </p:nvSpPr>
        <p:spPr>
          <a:xfrm>
            <a:off x="6115507" y="3931920"/>
            <a:ext cx="21946" cy="137160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25" name="Shape 23"/>
          <p:cNvSpPr/>
          <p:nvPr/>
        </p:nvSpPr>
        <p:spPr>
          <a:xfrm>
            <a:off x="5312664" y="4270248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404104" y="43799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1883–1945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22392" y="4745736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Pháp thuộc khai thác than Hòn Gai, Cẩm Phả, Uông Bí; công nhân mỏ hình thành.</a:t>
            </a:r>
            <a:endParaRPr lang="en-US" sz="960" dirty="0"/>
          </a:p>
        </p:txBody>
      </p:sp>
      <p:sp>
        <p:nvSpPr>
          <p:cNvPr id="28" name="Shape 26"/>
          <p:cNvSpPr/>
          <p:nvPr/>
        </p:nvSpPr>
        <p:spPr>
          <a:xfrm>
            <a:off x="595274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9" name="Shape 27"/>
          <p:cNvSpPr/>
          <p:nvPr/>
        </p:nvSpPr>
        <p:spPr>
          <a:xfrm>
            <a:off x="603504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30" name="Shape 28"/>
          <p:cNvSpPr/>
          <p:nvPr/>
        </p:nvSpPr>
        <p:spPr>
          <a:xfrm>
            <a:off x="777666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31" name="Shape 29"/>
          <p:cNvSpPr/>
          <p:nvPr/>
        </p:nvSpPr>
        <p:spPr>
          <a:xfrm>
            <a:off x="697382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706526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1936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708355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Tổng bãi công thợ mỏ — truyền thống “Kỷ luật và Đồng tâm”.</a:t>
            </a:r>
            <a:endParaRPr lang="en-US" sz="960" dirty="0"/>
          </a:p>
        </p:txBody>
      </p:sp>
      <p:sp>
        <p:nvSpPr>
          <p:cNvPr id="34" name="Shape 32"/>
          <p:cNvSpPr/>
          <p:nvPr/>
        </p:nvSpPr>
        <p:spPr>
          <a:xfrm>
            <a:off x="761390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35" name="Shape 33"/>
          <p:cNvSpPr/>
          <p:nvPr/>
        </p:nvSpPr>
        <p:spPr>
          <a:xfrm>
            <a:off x="769620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36" name="Shape 34"/>
          <p:cNvSpPr/>
          <p:nvPr/>
        </p:nvSpPr>
        <p:spPr>
          <a:xfrm>
            <a:off x="9437827" y="3931920"/>
            <a:ext cx="21946" cy="137160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37" name="Shape 35"/>
          <p:cNvSpPr/>
          <p:nvPr/>
        </p:nvSpPr>
        <p:spPr>
          <a:xfrm>
            <a:off x="8634984" y="4270248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8726424" y="437997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30/10/1963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8744712" y="4745736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Thành lập tỉnh Quảng Ninh trên cơ sở Hồng Quảng và Hải Ninh.</a:t>
            </a:r>
            <a:endParaRPr lang="en-US" sz="960" dirty="0"/>
          </a:p>
        </p:txBody>
      </p:sp>
      <p:sp>
        <p:nvSpPr>
          <p:cNvPr id="40" name="Shape 38"/>
          <p:cNvSpPr/>
          <p:nvPr/>
        </p:nvSpPr>
        <p:spPr>
          <a:xfrm>
            <a:off x="927506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41" name="Shape 39"/>
          <p:cNvSpPr/>
          <p:nvPr/>
        </p:nvSpPr>
        <p:spPr>
          <a:xfrm>
            <a:off x="935736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42" name="Shape 40"/>
          <p:cNvSpPr/>
          <p:nvPr/>
        </p:nvSpPr>
        <p:spPr>
          <a:xfrm>
            <a:off x="11098987" y="3474720"/>
            <a:ext cx="21946" cy="438912"/>
          </a:xfrm>
          <a:prstGeom prst="rect">
            <a:avLst/>
          </a:prstGeom>
          <a:solidFill>
            <a:srgbClr val="F2CE84"/>
          </a:solidFill>
          <a:ln/>
        </p:spPr>
      </p:sp>
      <p:sp>
        <p:nvSpPr>
          <p:cNvPr id="43" name="Shape 41"/>
          <p:cNvSpPr/>
          <p:nvPr/>
        </p:nvSpPr>
        <p:spPr>
          <a:xfrm>
            <a:off x="10296144" y="1810512"/>
            <a:ext cx="1627632" cy="1664208"/>
          </a:xfrm>
          <a:prstGeom prst="roundRect">
            <a:avLst>
              <a:gd name="adj" fmla="val 449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10387584" y="19202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1986 – NAY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10405872" y="2286000"/>
            <a:ext cx="14081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60" dirty="0">
                <a:solidFill>
                  <a:srgbClr val="2030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Đổi mới: than, du lịch Hạ Long (UNESCO 1994), cửa khẩu Móng Cái, dịch vụ bứt phá.</a:t>
            </a:r>
            <a:endParaRPr lang="en-US" sz="960" dirty="0"/>
          </a:p>
        </p:txBody>
      </p:sp>
      <p:sp>
        <p:nvSpPr>
          <p:cNvPr id="46" name="Shape 44"/>
          <p:cNvSpPr/>
          <p:nvPr/>
        </p:nvSpPr>
        <p:spPr>
          <a:xfrm>
            <a:off x="10936224" y="3767328"/>
            <a:ext cx="347472" cy="347472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47" name="Shape 45"/>
          <p:cNvSpPr/>
          <p:nvPr/>
        </p:nvSpPr>
        <p:spPr>
          <a:xfrm>
            <a:off x="11018520" y="3849624"/>
            <a:ext cx="182880" cy="182880"/>
          </a:xfrm>
          <a:prstGeom prst="ellipse">
            <a:avLst/>
          </a:prstGeom>
          <a:solidFill>
            <a:srgbClr val="0A2E26"/>
          </a:solidFill>
          <a:ln/>
        </p:spPr>
      </p:sp>
      <p:sp>
        <p:nvSpPr>
          <p:cNvPr id="48" name="Text 46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49" name="Text 47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2E26"/>
          </a:solidFill>
          <a:ln/>
        </p:spPr>
      </p:sp>
      <p:pic>
        <p:nvPicPr>
          <p:cNvPr id="3" name="Image 0" descr="images/halong_hero.jpg">    </p:cNvPr>
          <p:cNvPicPr>
            <a:picLocks noChangeAspect="1"/>
          </p:cNvPicPr>
          <p:nvPr/>
        </p:nvPicPr>
        <p:blipFill>
          <a:blip r:embed="rId1">
            <a:alphaModFix amt="38000"/>
          </a:blip>
          <a:stretch>
            <a:fillRect/>
          </a:stretch>
        </p:blipFill>
        <p:spPr>
          <a:xfrm>
            <a:off x="6492240" y="0"/>
            <a:ext cx="5715000" cy="68580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92240" y="0"/>
            <a:ext cx="5715000" cy="6858000"/>
          </a:xfrm>
          <a:prstGeom prst="rect">
            <a:avLst/>
          </a:prstGeom>
          <a:solidFill>
            <a:srgbClr val="061F19">
              <a:alpha val="65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0" y="0"/>
            <a:ext cx="6949440" cy="6858000"/>
          </a:xfrm>
          <a:prstGeom prst="rect">
            <a:avLst/>
          </a:prstGeom>
          <a:solidFill>
            <a:srgbClr val="0A2E26"/>
          </a:solidFill>
          <a:ln/>
        </p:spPr>
      </p:sp>
      <p:sp>
        <p:nvSpPr>
          <p:cNvPr id="6" name="Text 3"/>
          <p:cNvSpPr/>
          <p:nvPr/>
        </p:nvSpPr>
        <p:spPr>
          <a:xfrm>
            <a:off x="502920" y="84124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Ý NGHĨA LỊCH SỬ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11887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Một vùng đất, bốn giá trị cốt lõi</a:t>
            </a:r>
            <a:endParaRPr lang="en-US" sz="2800" dirty="0"/>
          </a:p>
        </p:txBody>
      </p:sp>
      <p:sp>
        <p:nvSpPr>
          <p:cNvPr id="8" name="Shape 5"/>
          <p:cNvSpPr/>
          <p:nvPr/>
        </p:nvSpPr>
        <p:spPr>
          <a:xfrm>
            <a:off x="502920" y="2103120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13232" y="2359152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0" name="Text 7"/>
          <p:cNvSpPr/>
          <p:nvPr/>
        </p:nvSpPr>
        <p:spPr>
          <a:xfrm>
            <a:off x="713232" y="23591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298448" y="222199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 THẾ CHIẾN LƯỢC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298448" y="2523744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biên cương Đông Bắc, cửa ngõ biển – biên của Tổ quốc; vai trò quốc phòng trọng yếu từ thời dựng nước đến nay.</a:t>
            </a:r>
            <a:endParaRPr lang="en-US" sz="1060" dirty="0"/>
          </a:p>
        </p:txBody>
      </p:sp>
      <p:sp>
        <p:nvSpPr>
          <p:cNvPr id="13" name="Shape 10"/>
          <p:cNvSpPr/>
          <p:nvPr/>
        </p:nvSpPr>
        <p:spPr>
          <a:xfrm>
            <a:off x="502920" y="3136392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13232" y="3392424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5" name="Text 12"/>
          <p:cNvSpPr/>
          <p:nvPr/>
        </p:nvSpPr>
        <p:spPr>
          <a:xfrm>
            <a:off x="713232" y="33924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298448" y="3255264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CÁI NÔI NGÀNH THAN VIỆT NAM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298448" y="3557016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Vùng than lớn nhất nước — Hòn Gai, Cẩm Phả, Uông Bí — gắn với giai cấp công nhân mỏ và truyền thống đấu tranh.</a:t>
            </a:r>
            <a:endParaRPr lang="en-US" sz="1060" dirty="0"/>
          </a:p>
        </p:txBody>
      </p:sp>
      <p:sp>
        <p:nvSpPr>
          <p:cNvPr id="18" name="Shape 15"/>
          <p:cNvSpPr/>
          <p:nvPr/>
        </p:nvSpPr>
        <p:spPr>
          <a:xfrm>
            <a:off x="502920" y="4169664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13232" y="4425696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0" name="Text 17"/>
          <p:cNvSpPr/>
          <p:nvPr/>
        </p:nvSpPr>
        <p:spPr>
          <a:xfrm>
            <a:off x="713232" y="44256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298448" y="4288536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 SẢN THIÊN NHIÊN &amp; VĂN HÓA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1298448" y="4590288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Vịnh Hạ Long, non thiêng Yên Tử, chiến tích Bạch Đằng và tinh thần “Kỷ luật và Đồng tâm”.</a:t>
            </a:r>
            <a:endParaRPr lang="en-US" sz="1060" dirty="0"/>
          </a:p>
        </p:txBody>
      </p:sp>
      <p:sp>
        <p:nvSpPr>
          <p:cNvPr id="23" name="Shape 20"/>
          <p:cNvSpPr/>
          <p:nvPr/>
        </p:nvSpPr>
        <p:spPr>
          <a:xfrm>
            <a:off x="502920" y="5202936"/>
            <a:ext cx="5897880" cy="914400"/>
          </a:xfrm>
          <a:prstGeom prst="roundRect">
            <a:avLst>
              <a:gd name="adj" fmla="val 8000"/>
            </a:avLst>
          </a:prstGeom>
          <a:solidFill>
            <a:srgbClr val="0E3B30"/>
          </a:solidFill>
          <a:ln w="9525">
            <a:solidFill>
              <a:srgbClr val="E3A83B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13232" y="5458968"/>
            <a:ext cx="402336" cy="402336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5" name="Text 22"/>
          <p:cNvSpPr/>
          <p:nvPr/>
        </p:nvSpPr>
        <p:spPr>
          <a:xfrm>
            <a:off x="713232" y="5458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1298448" y="5321808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50" kern="0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ĐỘNG LỰC PHÁT TRIỂN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1298448" y="5623560"/>
            <a:ext cx="4983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3000"/>
              </a:lnSpc>
              <a:buNone/>
            </a:pPr>
            <a:r>
              <a:rPr lang="en-US" sz="106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Kinh tế biển, du lịch, thương mại biên giới và công nghiệp hiện đại — đóng góp quan trọng cho đất nước.</a:t>
            </a:r>
            <a:endParaRPr lang="en-US" sz="1060" dirty="0"/>
          </a:p>
        </p:txBody>
      </p:sp>
      <p:sp>
        <p:nvSpPr>
          <p:cNvPr id="28" name="Text 25"/>
          <p:cNvSpPr/>
          <p:nvPr/>
        </p:nvSpPr>
        <p:spPr>
          <a:xfrm>
            <a:off x="6903720" y="507492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 góp phần quan trọng vào sự phát triển kinh tế và lịch sử của đất nước.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ages/quang_ninh_na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61F19">
              <a:alpha val="6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2148840"/>
            <a:ext cx="12191695" cy="2606040"/>
          </a:xfrm>
          <a:prstGeom prst="rect">
            <a:avLst/>
          </a:prstGeom>
          <a:solidFill>
            <a:srgbClr val="061F19">
              <a:alpha val="78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914400" y="26974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spc="6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QUẢNG NINH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914400" y="3703320"/>
            <a:ext cx="103601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2CE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Nơi thiên nhiên, lịch sử và con người cùng toả sáng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914400" y="4617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400" kern="0" dirty="0">
                <a:solidFill>
                  <a:srgbClr val="F7F2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CẢM ƠN ĐÃ LẮNG NGHE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7"/>
          </a:solidFill>
          <a:ln/>
        </p:spPr>
      </p:sp>
      <p:sp>
        <p:nvSpPr>
          <p:cNvPr id="3" name="Shape 1"/>
          <p:cNvSpPr/>
          <p:nvPr/>
        </p:nvSpPr>
        <p:spPr>
          <a:xfrm>
            <a:off x="9985248" y="-1691640"/>
            <a:ext cx="3977640" cy="3977640"/>
          </a:xfrm>
          <a:prstGeom prst="ellipse">
            <a:avLst/>
          </a:prstGeom>
          <a:solidFill>
            <a:srgbClr val="EFE7D6"/>
          </a:solidFill>
          <a:ln/>
        </p:spPr>
      </p:sp>
      <p:sp>
        <p:nvSpPr>
          <p:cNvPr id="4" name="Shape 2"/>
          <p:cNvSpPr/>
          <p:nvPr/>
        </p:nvSpPr>
        <p:spPr>
          <a:xfrm>
            <a:off x="-1508760" y="5687568"/>
            <a:ext cx="3246120" cy="3246120"/>
          </a:xfrm>
          <a:prstGeom prst="ellipse">
            <a:avLst/>
          </a:prstGeom>
          <a:solidFill>
            <a:srgbClr val="EFE7D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402336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50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LIỆU ĐỐI CHIẾU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02920" y="713232"/>
            <a:ext cx="76809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Nguồn tham khảo chính</a:t>
            </a:r>
            <a:endParaRPr lang="en-US" sz="31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9966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Các mốc lịch sử trong bài được tổng hợp từ nguồn chính thống; truy cập ngày 27/08/2026.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349240" cy="167335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22376" y="1938528"/>
            <a:ext cx="566928" cy="566928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0" name="Text 8"/>
          <p:cNvSpPr/>
          <p:nvPr/>
        </p:nvSpPr>
        <p:spPr>
          <a:xfrm>
            <a:off x="722376" y="1972544"/>
            <a:ext cx="566928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63040" y="192024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35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Thông tin điện tử tỉnh Quảng Ninh</a:t>
            </a:r>
            <a:endParaRPr lang="en-US" sz="940" dirty="0"/>
          </a:p>
        </p:txBody>
      </p:sp>
      <p:sp>
        <p:nvSpPr>
          <p:cNvPr id="12" name="Text 10">
            <a:hlinkClick r:id="rId1" tooltip=""/>
          </p:cNvPr>
          <p:cNvSpPr/>
          <p:nvPr/>
        </p:nvSpPr>
        <p:spPr>
          <a:xfrm>
            <a:off x="1463040" y="2185416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u="sng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Quá trình hình thành và phát triển tỉnh Quảng Ninh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722376" y="2724912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15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liệu nền cho các giai đoạn lịch sử, vùng mỏ và kháng chiến.</a:t>
            </a:r>
            <a:endParaRPr lang="en-US" sz="1015" dirty="0"/>
          </a:p>
        </p:txBody>
      </p:sp>
      <p:sp>
        <p:nvSpPr>
          <p:cNvPr id="14" name="Shape 12"/>
          <p:cNvSpPr/>
          <p:nvPr/>
        </p:nvSpPr>
        <p:spPr>
          <a:xfrm>
            <a:off x="6126480" y="1737360"/>
            <a:ext cx="5349240" cy="167335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45936" y="1938528"/>
            <a:ext cx="566928" cy="566928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16" name="Text 14"/>
          <p:cNvSpPr/>
          <p:nvPr/>
        </p:nvSpPr>
        <p:spPr>
          <a:xfrm>
            <a:off x="6345936" y="1972544"/>
            <a:ext cx="566928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7086600" y="1920240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35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Thông tin điện tử tỉnh Quảng Ninh</a:t>
            </a:r>
            <a:endParaRPr lang="en-US" sz="940" dirty="0"/>
          </a:p>
        </p:txBody>
      </p:sp>
      <p:sp>
        <p:nvSpPr>
          <p:cNvPr id="18" name="Text 16">
            <a:hlinkClick r:id="rId2" tooltip=""/>
          </p:cNvPr>
          <p:cNvSpPr/>
          <p:nvPr/>
        </p:nvSpPr>
        <p:spPr>
          <a:xfrm>
            <a:off x="7086600" y="2185416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u="sng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Tỉnh Quảng Ninh được thành lập</a:t>
            </a:r>
            <a:endParaRPr lang="en-US" sz="1210" dirty="0"/>
          </a:p>
        </p:txBody>
      </p:sp>
      <p:sp>
        <p:nvSpPr>
          <p:cNvPr id="19" name="Text 17"/>
          <p:cNvSpPr/>
          <p:nvPr/>
        </p:nvSpPr>
        <p:spPr>
          <a:xfrm>
            <a:off x="6345936" y="2724912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15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Xác nhận quyết định ngày 30/10/1963 hợp nhất Hải Ninh và Hồng Quảng.</a:t>
            </a:r>
            <a:endParaRPr lang="en-US" sz="1015" dirty="0"/>
          </a:p>
        </p:txBody>
      </p:sp>
      <p:sp>
        <p:nvSpPr>
          <p:cNvPr id="20" name="Shape 18"/>
          <p:cNvSpPr/>
          <p:nvPr/>
        </p:nvSpPr>
        <p:spPr>
          <a:xfrm>
            <a:off x="502920" y="3630168"/>
            <a:ext cx="5349240" cy="167335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22376" y="3831336"/>
            <a:ext cx="566928" cy="566928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" y="3865352"/>
            <a:ext cx="566928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63040" y="3813048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35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Cổng Thông tin điện tử tỉnh Quảng Ninh</a:t>
            </a:r>
            <a:endParaRPr lang="en-US" sz="940" dirty="0"/>
          </a:p>
        </p:txBody>
      </p:sp>
      <p:sp>
        <p:nvSpPr>
          <p:cNvPr id="24" name="Text 22">
            <a:hlinkClick r:id="rId3" tooltip=""/>
          </p:cNvPr>
          <p:cNvSpPr/>
          <p:nvPr/>
        </p:nvSpPr>
        <p:spPr>
          <a:xfrm>
            <a:off x="1463040" y="4078224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u="sng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Viết tiếp truyền thống “Kỷ luật và Đồng tâm”</a:t>
            </a:r>
            <a:endParaRPr lang="en-US" sz="1210" dirty="0"/>
          </a:p>
        </p:txBody>
      </p:sp>
      <p:sp>
        <p:nvSpPr>
          <p:cNvPr id="25" name="Text 23"/>
          <p:cNvSpPr/>
          <p:nvPr/>
        </p:nvSpPr>
        <p:spPr>
          <a:xfrm>
            <a:off x="722376" y="461772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15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Tư liệu về Tổng bãi công thợ mỏ ngày 12/11/1936 và truyền thống vùng mỏ.</a:t>
            </a:r>
            <a:endParaRPr lang="en-US" sz="1015" dirty="0"/>
          </a:p>
        </p:txBody>
      </p:sp>
      <p:sp>
        <p:nvSpPr>
          <p:cNvPr id="26" name="Shape 24"/>
          <p:cNvSpPr/>
          <p:nvPr/>
        </p:nvSpPr>
        <p:spPr>
          <a:xfrm>
            <a:off x="6126480" y="3630168"/>
            <a:ext cx="5349240" cy="1673352"/>
          </a:xfrm>
          <a:prstGeom prst="roundRect">
            <a:avLst>
              <a:gd name="adj" fmla="val 546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123028">
                <a:alpha val="2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345936" y="3831336"/>
            <a:ext cx="566928" cy="566928"/>
          </a:xfrm>
          <a:prstGeom prst="ellipse">
            <a:avLst/>
          </a:prstGeom>
          <a:solidFill>
            <a:srgbClr val="E3A83B"/>
          </a:solidFill>
          <a:ln/>
        </p:spPr>
      </p:sp>
      <p:sp>
        <p:nvSpPr>
          <p:cNvPr id="28" name="Text 26"/>
          <p:cNvSpPr/>
          <p:nvPr/>
        </p:nvSpPr>
        <p:spPr>
          <a:xfrm>
            <a:off x="6345936" y="3865352"/>
            <a:ext cx="566928" cy="4988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7086600" y="3813048"/>
            <a:ext cx="41330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spc="35" kern="0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UNESCO World Heritage Centre</a:t>
            </a:r>
            <a:endParaRPr lang="en-US" sz="940" dirty="0"/>
          </a:p>
        </p:txBody>
      </p:sp>
      <p:sp>
        <p:nvSpPr>
          <p:cNvPr id="30" name="Text 28">
            <a:hlinkClick r:id="rId4" tooltip=""/>
          </p:cNvPr>
          <p:cNvSpPr/>
          <p:nvPr/>
        </p:nvSpPr>
        <p:spPr>
          <a:xfrm>
            <a:off x="7086600" y="4078224"/>
            <a:ext cx="41330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u="sng" dirty="0">
                <a:solidFill>
                  <a:srgbClr val="0A2E26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 Long Bay – Cat Ba Archipelago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6345936" y="4617720"/>
            <a:ext cx="49103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015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Thông tin di sản: Vịnh Hạ Long được ghi danh Di sản Thế giới năm 1994.</a:t>
            </a:r>
            <a:endParaRPr lang="en-US" sz="1015" dirty="0"/>
          </a:p>
        </p:txBody>
      </p:sp>
      <p:sp>
        <p:nvSpPr>
          <p:cNvPr id="32" name="Text 30"/>
          <p:cNvSpPr/>
          <p:nvPr/>
        </p:nvSpPr>
        <p:spPr>
          <a:xfrm>
            <a:off x="502920" y="5788152"/>
            <a:ext cx="11109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i="1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Ghi chú hình ảnh: sử dụng tư liệu do người dùng cung cấp; các khung ghi “minh hoạ” nhằm trực quan hoá bối cảnh lịch sử.</a:t>
            </a:r>
            <a:endParaRPr lang="en-US" sz="1040" dirty="0"/>
          </a:p>
        </p:txBody>
      </p:sp>
      <p:sp>
        <p:nvSpPr>
          <p:cNvPr id="33" name="Text 31"/>
          <p:cNvSpPr/>
          <p:nvPr/>
        </p:nvSpPr>
        <p:spPr>
          <a:xfrm>
            <a:off x="502920" y="6528816"/>
            <a:ext cx="4572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5E6E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LỊCH SỬ TỈNH QUẢNG NINH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338560" y="6528816"/>
            <a:ext cx="365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1271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XroHub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Lịch sử tỉnh Quảng Ninh</dc:title>
  <dc:subject>Lịch sử dựng nước và giữ nước gắn với tỉnh Quảng Ninh</dc:subject>
  <dc:creator>XroHub</dc:creator>
  <cp:lastModifiedBy>XroHub</cp:lastModifiedBy>
  <cp:revision>1</cp:revision>
  <dcterms:created xsi:type="dcterms:W3CDTF">2026-08-27T13:00:18Z</dcterms:created>
  <dcterms:modified xsi:type="dcterms:W3CDTF">2026-08-27T13:00:18Z</dcterms:modified>
</cp:coreProperties>
</file>