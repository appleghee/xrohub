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45 giây — MC1. [CUE] Nhạc nền trang trọng, âm lượng nhỏ; đứng yên 2 giây trước khi nói. Lời thoại: "Kính thưa thầy cô và các bạn! Lịch sử đôi khi không nằm trong những trang sách dày — nó nằm trong một cái tên. Cái tên ấy hôm nay nằm trên cổng trường chúng ta, nằm trong tên gọi của mỗi chúng ta: học sinh Trường THPT Hoàng Văn Thụ. Nhưng đằng sau cái tên đó là một con người — một chiến sĩ cộng sản chỉ sống 35 năm, mà cả một đời không một bước lùi. Hôm nay, nhóm chúng em xin được kể câu chuyện của Người — và của ngôi trường mang tên Người." [CUE] chìa tay về màn hình, chuyển Slide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1 phút 45 giây — MC2. "Đồng chí Hoàng Văn Thụ sinh năm 1909, người dân tộc Tày ở Lạng Sơn, thuở nhỏ học cả chữ Hán lẫn Quốc ngữ. Ít ai ngờ rằng, trước khi trở thành nhà cách mạng chuyên nghiệp, đồng chí từng là một người thợ: thợ cơ khí ở xưởng Nam Hưng; thợ in — người khắc chữ ngược trên đá cho nhà in Ngũ sắc thạch ấn; và là người làm báo cho các tờ Châu Giang, Tranh đấu, Lao động." [chỉ mốc 1939] "Từ năm 1939, đồng chí đảm nhiệm cương vị Bí thư Xứ ủy Bắc Kỳ. Giai đoạn 1940–1941, đồng chí là Ủy viên Thường vụ Trung ương Đảng, trực tiếp phụ trách công tác Binh vận và xây dựng căn cứ địa cách mạng." "Một người thợ, một người thợ in, một người làm báo — trở thành nhà lãnh đạo của cả một miền Bắc Kỳ. Chính ở những nghề tay chân giản dị ấy, đồng chí học được cách tổ chức, cách kết nối con người — nền tảng của tài năng lãnh đạo mà chúng ta sẽ thấy ngay sau đây." [CUE] hạ giọng câu cuối, chuyển Slide 3 + hạ đèn, nhạc trầm.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2 phút 15 giây — MC3 + cả nhóm. Nói chậm hơn 30%. "Thưa thầy cô và các bạn, nếu chỉ được chọn một hiện vật để kể về đồng chí, nhóm chúng em chọn một không gian nhỏ và tăm tối: Xà lim số 1 — Cellule 1 — của nhà tù Hỏa Lò. Đêm 25/8/1943, đồng chí Hoàng Văn Thụ bị thực dân Pháp bắt và bị giam ở đây." "Trong xà lim số 1 ấy, đồng chí không có giấy, không có bút. Nhưng Người có một viên gạch non. Bằng viên gạch non ướt ấy, đồng chí viết lên vách tù bài thơ — Nhắn bạn. Gạch non sẽ khô và vụn đi theo năm tháng, nhưng niềm tin vào ngày thắng lợi của Người thì không bao giờ vụn mất." [ĐỌC THƠ] cả nhóm đọc đồng thanh trích đoạn ĐÃ XÁC THỰC (chèn khi có tư liệu). "Sáng ngày 24/5/1944, tại bãi Tương Mai, trước họng súng của kẻ thù, khi bị yêu cầu bịt mắt, đồng chí đã hiên ngang từ chối. Người muốn nhìn thẳng vào những phát đạn ấy — như Người đã nhìn thẳng vào mọi gian khổ của cách mạng. Đồng chí hy sinh khi mới 35 tuổi." "Xiềng xích có thể khóa tay chân một con người — nhưng không bao giờ khóa được ý chí của một người cộng sản." [CUE] nhạc dừng 2 giây — mặc niệm 3 giây — câu chốt — chuyển Slide 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1 phút 45 giây — MC1. "Sự hy sinh ấy đã được tri ân bằng một cái tên trường học. Hành trình của ngôi trường chúng ta bắt đầu từ năm 1979 — khi được tách thành Phân hiệu Cấp 3 Uông Bí với chỉ 3 lớp, và chỉ sau 5 năm đã phát triển lên 6 lớp." [thẻ 2] "Đến ngày 17/11/1984, Quyết định số 645/QĐ-UBND chính thức thành lập Trường Trung học kỹ thuật Hoàng Văn Thụ — cái tên liệt sĩ lần đầu tiên được in vào lịch sử của một ngôi trường tại Uông Bí." [thẻ 3] "Giai đoạn 1989–2007, trường đổi tên thành THPT Hoàng Văn Thụ, sáp nhập THCS Nguyễn Văn Cừ và trở thành trường liên cấp lớn nhất tỉnh với 40 lớp và hơn 1.800 học sinh." [thẻ 4] "Từ 2007 đến nay, sau khi tách cấp 2, trường không ngừng vươn lên: tháng 4/2012 đạt chuẩn Quốc gia, và năm 2014 vinh dự nhận Bằng khen của Thủ tướng Chính phủ. Từ 3 lớp học năm 1979 đến ngôi trường chuẩn quốc gia hôm nay — đó chính là cách thế hệ sau giữ lửa cho tên tuổi Người." [CUE] chuyển Slide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1 phút 15 giây — MC2 + MC3. MC2: "Từ xà lim số 1 đến những phòng học đầy nắng hôm nay — khoảng cách ấy chính là câu trả lời cho câu hỏi: vì sao chúng ta học lịch sử? Bởi bốn phẩm chất của đồng chí — kiên trung bất khuất, tận tụy trách nhiệm, tài năng tổ chức lãnh đạo, và lòng yêu nước cùng niềm tin tất thắng — không nằm trong quá khứ. Đó là những phẩm chất một học sinh Hoàng Văn Thụ hôm nay sống được mỗi ngày: kiên định trước khó khăn, trách nhiệm với bài tập và lời hứa, biết tổ chức công việc và tập thể, và luôn tin vào điều tốt đẹp." MC3: "Chúng em kể lại câu chuyện của Người không chỉ để tri ân — mà để tự nhủ: hãy sống cho xứng đáng với cái tên in trên chiếc áo mình mặc. Xin chân thành cảm ơn thầy cô và các bạn đã lắng nghe!" [CUE] nhạc lớn dần rồi tắt; cả 4 thành viên bước ra hàng, cúi chào; giữ slide 5 trong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5-Point Star 2"/>
          <p:cNvSpPr/>
          <p:nvPr/>
        </p:nvSpPr>
        <p:spPr>
          <a:xfrm>
            <a:off x="8412480" y="-1097280"/>
            <a:ext cx="5120640" cy="5120640"/>
          </a:xfrm>
          <a:prstGeom prst="star5">
            <a:avLst/>
          </a:prstGeom>
          <a:solidFill>
            <a:srgbClr val="2A3A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46304" cy="6858000"/>
          </a:xfrm>
          <a:prstGeom prst="rect">
            <a:avLst/>
          </a:prstGeom>
          <a:solidFill>
            <a:srgbClr val="7A0C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658368"/>
            <a:ext cx="7772400" cy="365760"/>
          </a:xfrm>
          <a:prstGeom prst="rect">
            <a:avLst/>
          </a:prstGeom>
          <a:noFill/>
        </p:spPr>
        <p:txBody>
          <a:bodyPr wrap="square" anchor="t">
            <a:spAutoFit/>
          </a:bodyPr>
          <a:lstStyle/>
          <a:p>
            <a:pPr algn="l">
              <a:lnSpc>
                <a:spcPct val="100000"/>
              </a:lnSpc>
              <a:spcAft>
                <a:spcPts val="400"/>
              </a:spcAft>
            </a:pPr>
            <a:r>
              <a:rPr sz="1300" b="1" i="0">
                <a:solidFill>
                  <a:srgbClr val="F2B705"/>
                </a:solidFill>
                <a:latin typeface="Montserrat"/>
              </a:rPr>
              <a:t>BÀI TẬP LỚN • LỊCH SỬ &amp; HOẠT ĐỘNG TRẢI NGHIỆM</a:t>
            </a:r>
          </a:p>
        </p:txBody>
      </p:sp>
      <p:sp>
        <p:nvSpPr>
          <p:cNvPr id="6" name="TextBox 5"/>
          <p:cNvSpPr txBox="1"/>
          <p:nvPr/>
        </p:nvSpPr>
        <p:spPr>
          <a:xfrm>
            <a:off x="731520" y="1051560"/>
            <a:ext cx="7863840" cy="1188720"/>
          </a:xfrm>
          <a:prstGeom prst="rect">
            <a:avLst/>
          </a:prstGeom>
          <a:noFill/>
        </p:spPr>
        <p:txBody>
          <a:bodyPr wrap="square" anchor="t">
            <a:spAutoFit/>
          </a:bodyPr>
          <a:lstStyle/>
          <a:p>
            <a:pPr algn="l">
              <a:lnSpc>
                <a:spcPct val="100000"/>
              </a:lnSpc>
              <a:spcAft>
                <a:spcPts val="400"/>
              </a:spcAft>
            </a:pPr>
            <a:r>
              <a:rPr sz="5700" b="1" i="0">
                <a:solidFill>
                  <a:srgbClr val="FFFFFF"/>
                </a:solidFill>
                <a:latin typeface="Montserrat"/>
              </a:rPr>
              <a:t>HOÀNG VĂN THỤ</a:t>
            </a:r>
          </a:p>
        </p:txBody>
      </p:sp>
      <p:sp>
        <p:nvSpPr>
          <p:cNvPr id="7" name="TextBox 6"/>
          <p:cNvSpPr txBox="1"/>
          <p:nvPr/>
        </p:nvSpPr>
        <p:spPr>
          <a:xfrm>
            <a:off x="777240" y="2331720"/>
            <a:ext cx="4572000" cy="548640"/>
          </a:xfrm>
          <a:prstGeom prst="rect">
            <a:avLst/>
          </a:prstGeom>
          <a:noFill/>
        </p:spPr>
        <p:txBody>
          <a:bodyPr wrap="square" anchor="t">
            <a:spAutoFit/>
          </a:bodyPr>
          <a:lstStyle/>
          <a:p>
            <a:pPr algn="l">
              <a:lnSpc>
                <a:spcPct val="100000"/>
              </a:lnSpc>
              <a:spcAft>
                <a:spcPts val="400"/>
              </a:spcAft>
            </a:pPr>
            <a:r>
              <a:rPr sz="2700" b="1" i="0">
                <a:solidFill>
                  <a:srgbClr val="F2B705"/>
                </a:solidFill>
                <a:latin typeface="Montserrat"/>
              </a:rPr>
              <a:t>1909 – 1944</a:t>
            </a:r>
          </a:p>
        </p:txBody>
      </p:sp>
      <p:sp>
        <p:nvSpPr>
          <p:cNvPr id="8" name="TextBox 7"/>
          <p:cNvSpPr txBox="1"/>
          <p:nvPr/>
        </p:nvSpPr>
        <p:spPr>
          <a:xfrm>
            <a:off x="777240" y="2926080"/>
            <a:ext cx="6949440" cy="548640"/>
          </a:xfrm>
          <a:prstGeom prst="rect">
            <a:avLst/>
          </a:prstGeom>
          <a:noFill/>
        </p:spPr>
        <p:txBody>
          <a:bodyPr wrap="square" anchor="t">
            <a:spAutoFit/>
          </a:bodyPr>
          <a:lstStyle/>
          <a:p>
            <a:pPr algn="l">
              <a:lnSpc>
                <a:spcPct val="100000"/>
              </a:lnSpc>
              <a:spcAft>
                <a:spcPts val="400"/>
              </a:spcAft>
            </a:pPr>
            <a:r>
              <a:rPr sz="1800" b="0" i="1">
                <a:solidFill>
                  <a:srgbClr val="F7F2E7"/>
                </a:solidFill>
                <a:latin typeface="Playfair Display"/>
              </a:rPr>
              <a:t>"Ngọn đuốc bất diệt &amp; mái trường mang tên Người"</a:t>
            </a:r>
          </a:p>
        </p:txBody>
      </p:sp>
      <p:sp>
        <p:nvSpPr>
          <p:cNvPr id="9" name="Rectangle 8"/>
          <p:cNvSpPr/>
          <p:nvPr/>
        </p:nvSpPr>
        <p:spPr>
          <a:xfrm>
            <a:off x="822960" y="3520440"/>
            <a:ext cx="1005840" cy="640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892040"/>
            <a:ext cx="6766560" cy="914400"/>
          </a:xfrm>
          <a:prstGeom prst="rect">
            <a:avLst/>
          </a:prstGeom>
          <a:noFill/>
        </p:spPr>
        <p:txBody>
          <a:bodyPr wrap="square" anchor="t">
            <a:spAutoFit/>
          </a:bodyPr>
          <a:lstStyle/>
          <a:p>
            <a:pPr algn="l">
              <a:lnSpc>
                <a:spcPct val="125000"/>
              </a:lnSpc>
              <a:spcAft>
                <a:spcPts val="400"/>
              </a:spcAft>
            </a:pPr>
            <a:r>
              <a:rPr sz="1300" b="1" i="0">
                <a:solidFill>
                  <a:srgbClr val="FFFFFF"/>
                </a:solidFill>
                <a:latin typeface="Be Vietnam Pro"/>
              </a:rPr>
              <a:t>Trường THPT Hoàng Văn Thụ — Uông Bí, Quảng Ninh</a:t>
            </a:r>
          </a:p>
          <a:p>
            <a:pPr algn="l">
              <a:lnSpc>
                <a:spcPct val="125000"/>
              </a:lnSpc>
              <a:spcAft>
                <a:spcPts val="400"/>
              </a:spcAft>
            </a:pPr>
            <a:r>
              <a:rPr sz="1300" b="0" i="0">
                <a:solidFill>
                  <a:srgbClr val="E9E1CE"/>
                </a:solidFill>
                <a:latin typeface="Be Vietnam Pro"/>
              </a:rPr>
              <a:t>Nhóm: …………… · Lớp: …………… · Tháng 9/2026</a:t>
            </a:r>
          </a:p>
        </p:txBody>
      </p:sp>
      <p:sp>
        <p:nvSpPr>
          <p:cNvPr id="11" name="Rounded Rectangle 10"/>
          <p:cNvSpPr/>
          <p:nvPr/>
        </p:nvSpPr>
        <p:spPr>
          <a:xfrm>
            <a:off x="777240" y="5897880"/>
            <a:ext cx="4023360" cy="457200"/>
          </a:xfrm>
          <a:prstGeom prst="roundRect">
            <a:avLst/>
          </a:prstGeom>
          <a:noFill/>
          <a:ln w="1905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943600"/>
            <a:ext cx="4023360" cy="365760"/>
          </a:xfrm>
          <a:prstGeom prst="rect">
            <a:avLst/>
          </a:prstGeom>
          <a:noFill/>
        </p:spPr>
        <p:txBody>
          <a:bodyPr wrap="square" anchor="t">
            <a:spAutoFit/>
          </a:bodyPr>
          <a:lstStyle/>
          <a:p>
            <a:pPr algn="ctr">
              <a:lnSpc>
                <a:spcPct val="100000"/>
              </a:lnSpc>
              <a:spcAft>
                <a:spcPts val="400"/>
              </a:spcAft>
            </a:pPr>
            <a:r>
              <a:rPr sz="1150" b="1" i="0">
                <a:solidFill>
                  <a:srgbClr val="F2B705"/>
                </a:solidFill>
                <a:latin typeface="Montserrat"/>
              </a:rPr>
              <a:t>TIẾT 1 + TIẾT 2 • THỜI LƯỢNG 8 PHÚT</a:t>
            </a:r>
          </a:p>
        </p:txBody>
      </p:sp>
      <p:sp>
        <p:nvSpPr>
          <p:cNvPr id="13" name="Rounded Rectangle 12"/>
          <p:cNvSpPr/>
          <p:nvPr/>
        </p:nvSpPr>
        <p:spPr>
          <a:xfrm>
            <a:off x="7452360" y="1005840"/>
            <a:ext cx="4069080" cy="4480560"/>
          </a:xfrm>
          <a:prstGeom prst="roundRect">
            <a:avLst/>
          </a:prstGeom>
          <a:noFill/>
          <a:ln w="25400">
            <a:solidFill>
              <a:srgbClr val="CFC4A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  [ẢNH 1] CHÂN DUNG ĐỒNG CHÍ</a:t>
            </a:r>
          </a:p>
          <a:p>
            <a:pPr algn="ctr">
              <a:spcBef>
                <a:spcPts val="400"/>
              </a:spcBef>
            </a:pPr>
            <a:r>
              <a:rPr sz="1050">
                <a:solidFill>
                  <a:srgbClr val="6E6250"/>
                </a:solidFill>
                <a:latin typeface="Be Vietnam Pro"/>
              </a:rPr>
              <a:t>Ảnh tư liệu chính thức — bạn sẽ gửi · viền vàng đồng 4px</a:t>
            </a:r>
          </a:p>
        </p:txBody>
      </p:sp>
      <p:sp>
        <p:nvSpPr>
          <p:cNvPr id="14" name="Rounded Rectangle 13"/>
          <p:cNvSpPr/>
          <p:nvPr/>
        </p:nvSpPr>
        <p:spPr>
          <a:xfrm>
            <a:off x="7452360" y="5596128"/>
            <a:ext cx="4069080" cy="420624"/>
          </a:xfrm>
          <a:prstGeom prst="roundRect">
            <a:avLst/>
          </a:prstGeom>
          <a:solidFill>
            <a:srgbClr val="5A0F1C"/>
          </a:solid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52360" y="5632704"/>
            <a:ext cx="4069080" cy="347472"/>
          </a:xfrm>
          <a:prstGeom prst="rect">
            <a:avLst/>
          </a:prstGeom>
          <a:noFill/>
        </p:spPr>
        <p:txBody>
          <a:bodyPr wrap="square" anchor="t">
            <a:spAutoFit/>
          </a:bodyPr>
          <a:lstStyle/>
          <a:p>
            <a:pPr algn="ctr">
              <a:lnSpc>
                <a:spcPct val="100000"/>
              </a:lnSpc>
              <a:spcAft>
                <a:spcPts val="400"/>
              </a:spcAft>
            </a:pPr>
            <a:r>
              <a:rPr sz="1200" b="1" i="0">
                <a:solidFill>
                  <a:srgbClr val="F2B705"/>
                </a:solidFill>
                <a:latin typeface="Montserrat"/>
              </a:rPr>
              <a:t>1939 — BÍ THƯ XỨ ỦY BẮC KỲ</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784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8778240" cy="548640"/>
          </a:xfrm>
          <a:prstGeom prst="rect">
            <a:avLst/>
          </a:prstGeom>
          <a:noFill/>
        </p:spPr>
        <p:txBody>
          <a:bodyPr wrap="square" anchor="t">
            <a:spAutoFit/>
          </a:bodyPr>
          <a:lstStyle/>
          <a:p>
            <a:pPr algn="l">
              <a:lnSpc>
                <a:spcPct val="100000"/>
              </a:lnSpc>
              <a:spcAft>
                <a:spcPts val="400"/>
              </a:spcAft>
            </a:pPr>
            <a:r>
              <a:rPr sz="2300" b="1" i="0">
                <a:solidFill>
                  <a:srgbClr val="FFFFFF"/>
                </a:solidFill>
                <a:latin typeface="Montserrat"/>
              </a:rPr>
              <a:t>TIẾT 1 · ĐỒNG CHÍ HOÀNG VĂN THỤ (1909 – 1944)</a:t>
            </a:r>
          </a:p>
        </p:txBody>
      </p:sp>
      <p:sp>
        <p:nvSpPr>
          <p:cNvPr id="5" name="Rounded Rectangle 4"/>
          <p:cNvSpPr/>
          <p:nvPr/>
        </p:nvSpPr>
        <p:spPr>
          <a:xfrm>
            <a:off x="9052560" y="274320"/>
            <a:ext cx="2651760" cy="420624"/>
          </a:xfrm>
          <a:prstGeom prst="round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052560" y="310896"/>
            <a:ext cx="2651760" cy="347472"/>
          </a:xfrm>
          <a:prstGeom prst="rect">
            <a:avLst/>
          </a:prstGeom>
          <a:noFill/>
        </p:spPr>
        <p:txBody>
          <a:bodyPr wrap="square" anchor="t">
            <a:spAutoFit/>
          </a:bodyPr>
          <a:lstStyle/>
          <a:p>
            <a:pPr algn="ctr">
              <a:lnSpc>
                <a:spcPct val="100000"/>
              </a:lnSpc>
              <a:spcAft>
                <a:spcPts val="400"/>
              </a:spcAft>
            </a:pPr>
            <a:r>
              <a:rPr sz="1000" b="1" i="0">
                <a:solidFill>
                  <a:srgbClr val="FFFFFF"/>
                </a:solidFill>
                <a:latin typeface="Montserrat"/>
              </a:rPr>
              <a:t>NGƯỜI THỢ – NGƯỜI IN – NGƯỜI LÀM BÁO</a:t>
            </a:r>
          </a:p>
        </p:txBody>
      </p:sp>
      <p:sp>
        <p:nvSpPr>
          <p:cNvPr id="7" name="Rectangle 6"/>
          <p:cNvSpPr/>
          <p:nvPr/>
        </p:nvSpPr>
        <p:spPr>
          <a:xfrm>
            <a:off x="960120" y="1508760"/>
            <a:ext cx="50292" cy="4892040"/>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68680" y="1527048"/>
            <a:ext cx="237744" cy="237744"/>
          </a:xfrm>
          <a:prstGeom prst="ellipse">
            <a:avLst/>
          </a:prstGeom>
          <a:solidFill>
            <a:srgbClr val="F2B705"/>
          </a:solidFill>
          <a:ln w="222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 y="1444752"/>
            <a:ext cx="4846320" cy="320040"/>
          </a:xfrm>
          <a:prstGeom prst="rect">
            <a:avLst/>
          </a:prstGeom>
          <a:noFill/>
        </p:spPr>
        <p:txBody>
          <a:bodyPr wrap="square" anchor="t">
            <a:spAutoFit/>
          </a:bodyPr>
          <a:lstStyle/>
          <a:p>
            <a:pPr algn="l">
              <a:lnSpc>
                <a:spcPct val="100000"/>
              </a:lnSpc>
              <a:spcAft>
                <a:spcPts val="400"/>
              </a:spcAft>
            </a:pPr>
            <a:r>
              <a:rPr sz="1550" b="1" i="0">
                <a:solidFill>
                  <a:srgbClr val="7A0C1E"/>
                </a:solidFill>
                <a:latin typeface="Montserrat"/>
              </a:rPr>
              <a:t>1909</a:t>
            </a:r>
          </a:p>
        </p:txBody>
      </p:sp>
      <p:sp>
        <p:nvSpPr>
          <p:cNvPr id="10" name="TextBox 9"/>
          <p:cNvSpPr txBox="1"/>
          <p:nvPr/>
        </p:nvSpPr>
        <p:spPr>
          <a:xfrm>
            <a:off x="1325880" y="1783080"/>
            <a:ext cx="4709160" cy="868680"/>
          </a:xfrm>
          <a:prstGeom prst="rect">
            <a:avLst/>
          </a:prstGeom>
          <a:noFill/>
        </p:spPr>
        <p:txBody>
          <a:bodyPr wrap="square" anchor="t">
            <a:spAutoFit/>
          </a:bodyPr>
          <a:lstStyle/>
          <a:p>
            <a:pPr algn="l">
              <a:lnSpc>
                <a:spcPct val="100000"/>
              </a:lnSpc>
              <a:spcAft>
                <a:spcPts val="400"/>
              </a:spcAft>
            </a:pPr>
            <a:r>
              <a:rPr sz="1150" b="0" i="0">
                <a:solidFill>
                  <a:srgbClr val="1B2A4A"/>
                </a:solidFill>
                <a:latin typeface="Be Vietnam Pro"/>
              </a:rPr>
              <a:t>Sinh ra tại Lạng Sơn · người dân tộc Tày · học chữ Hán &amp; Quốc ngữ</a:t>
            </a:r>
          </a:p>
        </p:txBody>
      </p:sp>
      <p:sp>
        <p:nvSpPr>
          <p:cNvPr id="11" name="Oval 10"/>
          <p:cNvSpPr/>
          <p:nvPr/>
        </p:nvSpPr>
        <p:spPr>
          <a:xfrm>
            <a:off x="868680" y="2258568"/>
            <a:ext cx="237744" cy="237744"/>
          </a:xfrm>
          <a:prstGeom prst="ellipse">
            <a:avLst/>
          </a:prstGeom>
          <a:solidFill>
            <a:srgbClr val="F2B705"/>
          </a:solidFill>
          <a:ln w="222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25880" y="2176272"/>
            <a:ext cx="4846320" cy="320040"/>
          </a:xfrm>
          <a:prstGeom prst="rect">
            <a:avLst/>
          </a:prstGeom>
          <a:noFill/>
        </p:spPr>
        <p:txBody>
          <a:bodyPr wrap="square" anchor="t">
            <a:spAutoFit/>
          </a:bodyPr>
          <a:lstStyle/>
          <a:p>
            <a:pPr algn="l">
              <a:lnSpc>
                <a:spcPct val="100000"/>
              </a:lnSpc>
              <a:spcAft>
                <a:spcPts val="400"/>
              </a:spcAft>
            </a:pPr>
            <a:r>
              <a:rPr sz="1550" b="1" i="0">
                <a:solidFill>
                  <a:srgbClr val="7A0C1E"/>
                </a:solidFill>
                <a:latin typeface="Montserrat"/>
              </a:rPr>
              <a:t>TRƯỚC 1939</a:t>
            </a:r>
          </a:p>
        </p:txBody>
      </p:sp>
      <p:sp>
        <p:nvSpPr>
          <p:cNvPr id="13" name="TextBox 12"/>
          <p:cNvSpPr txBox="1"/>
          <p:nvPr/>
        </p:nvSpPr>
        <p:spPr>
          <a:xfrm>
            <a:off x="1325880" y="2514600"/>
            <a:ext cx="4709160" cy="868680"/>
          </a:xfrm>
          <a:prstGeom prst="rect">
            <a:avLst/>
          </a:prstGeom>
          <a:noFill/>
        </p:spPr>
        <p:txBody>
          <a:bodyPr wrap="square" anchor="t">
            <a:spAutoFit/>
          </a:bodyPr>
          <a:lstStyle/>
          <a:p>
            <a:pPr algn="l">
              <a:lnSpc>
                <a:spcPct val="100000"/>
              </a:lnSpc>
              <a:spcAft>
                <a:spcPts val="400"/>
              </a:spcAft>
            </a:pPr>
            <a:r>
              <a:rPr sz="1150" b="0" i="0">
                <a:solidFill>
                  <a:srgbClr val="1B2A4A"/>
                </a:solidFill>
                <a:latin typeface="Be Vietnam Pro"/>
              </a:rPr>
              <a:t>Thợ cơ khí xưởng Nam Hưng · thợ in chữ ngược trên đá (Ngũ sắc thạch ấn) · làm báo Châu Giang, Tranh đấu, Lao động</a:t>
            </a:r>
          </a:p>
        </p:txBody>
      </p:sp>
      <p:sp>
        <p:nvSpPr>
          <p:cNvPr id="14" name="Oval 13"/>
          <p:cNvSpPr/>
          <p:nvPr/>
        </p:nvSpPr>
        <p:spPr>
          <a:xfrm>
            <a:off x="868680" y="3355848"/>
            <a:ext cx="237744" cy="237744"/>
          </a:xfrm>
          <a:prstGeom prst="ellipse">
            <a:avLst/>
          </a:prstGeom>
          <a:solidFill>
            <a:srgbClr val="F2B705"/>
          </a:solidFill>
          <a:ln w="222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25880" y="3273552"/>
            <a:ext cx="4846320" cy="320040"/>
          </a:xfrm>
          <a:prstGeom prst="rect">
            <a:avLst/>
          </a:prstGeom>
          <a:noFill/>
        </p:spPr>
        <p:txBody>
          <a:bodyPr wrap="square" anchor="t">
            <a:spAutoFit/>
          </a:bodyPr>
          <a:lstStyle/>
          <a:p>
            <a:pPr algn="l">
              <a:lnSpc>
                <a:spcPct val="100000"/>
              </a:lnSpc>
              <a:spcAft>
                <a:spcPts val="400"/>
              </a:spcAft>
            </a:pPr>
            <a:r>
              <a:rPr sz="1550" b="1" i="0">
                <a:solidFill>
                  <a:srgbClr val="7A0C1E"/>
                </a:solidFill>
                <a:latin typeface="Montserrat"/>
              </a:rPr>
              <a:t>1939</a:t>
            </a:r>
          </a:p>
        </p:txBody>
      </p:sp>
      <p:sp>
        <p:nvSpPr>
          <p:cNvPr id="16" name="TextBox 15"/>
          <p:cNvSpPr txBox="1"/>
          <p:nvPr/>
        </p:nvSpPr>
        <p:spPr>
          <a:xfrm>
            <a:off x="1325880" y="3611880"/>
            <a:ext cx="4709160" cy="868680"/>
          </a:xfrm>
          <a:prstGeom prst="rect">
            <a:avLst/>
          </a:prstGeom>
          <a:noFill/>
        </p:spPr>
        <p:txBody>
          <a:bodyPr wrap="square" anchor="t">
            <a:spAutoFit/>
          </a:bodyPr>
          <a:lstStyle/>
          <a:p>
            <a:pPr algn="l">
              <a:lnSpc>
                <a:spcPct val="100000"/>
              </a:lnSpc>
              <a:spcAft>
                <a:spcPts val="400"/>
              </a:spcAft>
            </a:pPr>
            <a:r>
              <a:rPr sz="1150" b="0" i="0">
                <a:solidFill>
                  <a:srgbClr val="1B2A4A"/>
                </a:solidFill>
                <a:latin typeface="Be Vietnam Pro"/>
              </a:rPr>
              <a:t>Bí thư Xứ ủy Bắc Kỳ</a:t>
            </a:r>
          </a:p>
        </p:txBody>
      </p:sp>
      <p:sp>
        <p:nvSpPr>
          <p:cNvPr id="17" name="Oval 16"/>
          <p:cNvSpPr/>
          <p:nvPr/>
        </p:nvSpPr>
        <p:spPr>
          <a:xfrm>
            <a:off x="868680" y="3995928"/>
            <a:ext cx="237744" cy="237744"/>
          </a:xfrm>
          <a:prstGeom prst="ellipse">
            <a:avLst/>
          </a:prstGeom>
          <a:solidFill>
            <a:srgbClr val="F2B705"/>
          </a:solidFill>
          <a:ln w="222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25880" y="3913632"/>
            <a:ext cx="4846320" cy="320040"/>
          </a:xfrm>
          <a:prstGeom prst="rect">
            <a:avLst/>
          </a:prstGeom>
          <a:noFill/>
        </p:spPr>
        <p:txBody>
          <a:bodyPr wrap="square" anchor="t">
            <a:spAutoFit/>
          </a:bodyPr>
          <a:lstStyle/>
          <a:p>
            <a:pPr algn="l">
              <a:lnSpc>
                <a:spcPct val="100000"/>
              </a:lnSpc>
              <a:spcAft>
                <a:spcPts val="400"/>
              </a:spcAft>
            </a:pPr>
            <a:r>
              <a:rPr sz="1550" b="1" i="0">
                <a:solidFill>
                  <a:srgbClr val="7A0C1E"/>
                </a:solidFill>
                <a:latin typeface="Montserrat"/>
              </a:rPr>
              <a:t>1940 – 1941</a:t>
            </a:r>
          </a:p>
        </p:txBody>
      </p:sp>
      <p:sp>
        <p:nvSpPr>
          <p:cNvPr id="19" name="TextBox 18"/>
          <p:cNvSpPr txBox="1"/>
          <p:nvPr/>
        </p:nvSpPr>
        <p:spPr>
          <a:xfrm>
            <a:off x="1325880" y="4251960"/>
            <a:ext cx="4709160" cy="868680"/>
          </a:xfrm>
          <a:prstGeom prst="rect">
            <a:avLst/>
          </a:prstGeom>
          <a:noFill/>
        </p:spPr>
        <p:txBody>
          <a:bodyPr wrap="square" anchor="t">
            <a:spAutoFit/>
          </a:bodyPr>
          <a:lstStyle/>
          <a:p>
            <a:pPr algn="l">
              <a:lnSpc>
                <a:spcPct val="100000"/>
              </a:lnSpc>
              <a:spcAft>
                <a:spcPts val="400"/>
              </a:spcAft>
            </a:pPr>
            <a:r>
              <a:rPr sz="1150" b="0" i="0">
                <a:solidFill>
                  <a:srgbClr val="1B2A4A"/>
                </a:solidFill>
                <a:latin typeface="Be Vietnam Pro"/>
              </a:rPr>
              <a:t>Thường vụ Trung ương Đảng · phụ trách công tác Binh vận &amp; xây dựng căn cứ địa cách mạng</a:t>
            </a:r>
          </a:p>
        </p:txBody>
      </p:sp>
      <p:sp>
        <p:nvSpPr>
          <p:cNvPr id="20" name="Oval 19"/>
          <p:cNvSpPr/>
          <p:nvPr/>
        </p:nvSpPr>
        <p:spPr>
          <a:xfrm>
            <a:off x="868680" y="5093207"/>
            <a:ext cx="237744" cy="237744"/>
          </a:xfrm>
          <a:prstGeom prst="ellipse">
            <a:avLst/>
          </a:prstGeom>
          <a:solidFill>
            <a:srgbClr val="F2B705"/>
          </a:solidFill>
          <a:ln w="2222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25880" y="5010912"/>
            <a:ext cx="4846320" cy="320040"/>
          </a:xfrm>
          <a:prstGeom prst="rect">
            <a:avLst/>
          </a:prstGeom>
          <a:noFill/>
        </p:spPr>
        <p:txBody>
          <a:bodyPr wrap="square" anchor="t">
            <a:spAutoFit/>
          </a:bodyPr>
          <a:lstStyle/>
          <a:p>
            <a:pPr algn="l">
              <a:lnSpc>
                <a:spcPct val="100000"/>
              </a:lnSpc>
              <a:spcAft>
                <a:spcPts val="400"/>
              </a:spcAft>
            </a:pPr>
            <a:r>
              <a:rPr sz="1550" b="1" i="0">
                <a:solidFill>
                  <a:srgbClr val="7A0C1E"/>
                </a:solidFill>
                <a:latin typeface="Montserrat"/>
              </a:rPr>
              <a:t>1943 – 1944</a:t>
            </a:r>
          </a:p>
        </p:txBody>
      </p:sp>
      <p:sp>
        <p:nvSpPr>
          <p:cNvPr id="22" name="TextBox 21"/>
          <p:cNvSpPr txBox="1"/>
          <p:nvPr/>
        </p:nvSpPr>
        <p:spPr>
          <a:xfrm>
            <a:off x="1325880" y="5349240"/>
            <a:ext cx="4709160" cy="868680"/>
          </a:xfrm>
          <a:prstGeom prst="rect">
            <a:avLst/>
          </a:prstGeom>
          <a:noFill/>
        </p:spPr>
        <p:txBody>
          <a:bodyPr wrap="square" anchor="t">
            <a:spAutoFit/>
          </a:bodyPr>
          <a:lstStyle/>
          <a:p>
            <a:pPr algn="l">
              <a:lnSpc>
                <a:spcPct val="100000"/>
              </a:lnSpc>
              <a:spcAft>
                <a:spcPts val="400"/>
              </a:spcAft>
            </a:pPr>
            <a:r>
              <a:rPr sz="1150" b="0" i="0">
                <a:solidFill>
                  <a:srgbClr val="1B2A4A"/>
                </a:solidFill>
                <a:latin typeface="Be Vietnam Pro"/>
              </a:rPr>
              <a:t>Bị bắt 25/8/1943 → hy sinh 24/5/1944 tại Tương Mai</a:t>
            </a:r>
          </a:p>
        </p:txBody>
      </p:sp>
      <p:sp>
        <p:nvSpPr>
          <p:cNvPr id="23" name="Rounded Rectangle 22"/>
          <p:cNvSpPr/>
          <p:nvPr/>
        </p:nvSpPr>
        <p:spPr>
          <a:xfrm>
            <a:off x="6355080" y="1371600"/>
            <a:ext cx="5349240" cy="20116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55080" y="1371600"/>
            <a:ext cx="100584" cy="2011680"/>
          </a:xfrm>
          <a:prstGeom prst="rect">
            <a:avLst/>
          </a:prstGeom>
          <a:solidFill>
            <a:srgbClr val="8C5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517904"/>
            <a:ext cx="4937760" cy="320040"/>
          </a:xfrm>
          <a:prstGeom prst="rect">
            <a:avLst/>
          </a:prstGeom>
          <a:noFill/>
        </p:spPr>
        <p:txBody>
          <a:bodyPr wrap="square" anchor="t">
            <a:spAutoFit/>
          </a:bodyPr>
          <a:lstStyle/>
          <a:p>
            <a:pPr algn="l">
              <a:lnSpc>
                <a:spcPct val="100000"/>
              </a:lnSpc>
              <a:spcAft>
                <a:spcPts val="400"/>
              </a:spcAft>
            </a:pPr>
            <a:r>
              <a:rPr sz="1300" b="1" i="0">
                <a:solidFill>
                  <a:srgbClr val="8C5A3C"/>
                </a:solidFill>
                <a:latin typeface="Montserrat"/>
              </a:rPr>
              <a:t>BA NGHỀ TAY TRƯỚC CÁCH MẠNG</a:t>
            </a:r>
          </a:p>
        </p:txBody>
      </p:sp>
      <p:sp>
        <p:nvSpPr>
          <p:cNvPr id="26" name="TextBox 25"/>
          <p:cNvSpPr txBox="1"/>
          <p:nvPr/>
        </p:nvSpPr>
        <p:spPr>
          <a:xfrm>
            <a:off x="6629400" y="1901952"/>
            <a:ext cx="4983480" cy="1371600"/>
          </a:xfrm>
          <a:prstGeom prst="rect">
            <a:avLst/>
          </a:prstGeom>
          <a:noFill/>
        </p:spPr>
        <p:txBody>
          <a:bodyPr wrap="square" anchor="t">
            <a:spAutoFit/>
          </a:bodyPr>
          <a:lstStyle/>
          <a:p>
            <a:pPr algn="l">
              <a:lnSpc>
                <a:spcPct val="115000"/>
              </a:lnSpc>
              <a:spcAft>
                <a:spcPts val="400"/>
              </a:spcAft>
            </a:pPr>
            <a:r>
              <a:rPr sz="1250" b="0" i="0">
                <a:solidFill>
                  <a:srgbClr val="232A33"/>
                </a:solidFill>
                <a:latin typeface="Be Vietnam Pro"/>
              </a:rPr>
              <a:t>⚙️  Thợ cơ khí — xưởng Nam Hưng</a:t>
            </a:r>
          </a:p>
          <a:p>
            <a:pPr algn="l">
              <a:lnSpc>
                <a:spcPct val="115000"/>
              </a:lnSpc>
              <a:spcAft>
                <a:spcPts val="400"/>
              </a:spcAft>
            </a:pPr>
            <a:r>
              <a:rPr sz="1250" b="0" i="0">
                <a:solidFill>
                  <a:srgbClr val="232A33"/>
                </a:solidFill>
                <a:latin typeface="Be Vietnam Pro"/>
              </a:rPr>
              <a:t>🖨️  Thợ in chữ ngược trên đá — nhà in Ngũ sắc thạch ấn</a:t>
            </a:r>
          </a:p>
          <a:p>
            <a:pPr algn="l">
              <a:lnSpc>
                <a:spcPct val="115000"/>
              </a:lnSpc>
              <a:spcAft>
                <a:spcPts val="400"/>
              </a:spcAft>
            </a:pPr>
            <a:r>
              <a:rPr sz="1250" b="0" i="0">
                <a:solidFill>
                  <a:srgbClr val="232A33"/>
                </a:solidFill>
                <a:latin typeface="Be Vietnam Pro"/>
              </a:rPr>
              <a:t>📰  Người làm báo — Châu Giang · Tranh đấu · Lao động</a:t>
            </a:r>
          </a:p>
        </p:txBody>
      </p:sp>
      <p:sp>
        <p:nvSpPr>
          <p:cNvPr id="27" name="Rounded Rectangle 26"/>
          <p:cNvSpPr/>
          <p:nvPr/>
        </p:nvSpPr>
        <p:spPr>
          <a:xfrm>
            <a:off x="6355080" y="3611880"/>
            <a:ext cx="5349240" cy="16916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3749039"/>
            <a:ext cx="4846320" cy="292608"/>
          </a:xfrm>
          <a:prstGeom prst="rect">
            <a:avLst/>
          </a:prstGeom>
          <a:noFill/>
        </p:spPr>
        <p:txBody>
          <a:bodyPr wrap="square" anchor="t">
            <a:spAutoFit/>
          </a:bodyPr>
          <a:lstStyle/>
          <a:p>
            <a:pPr algn="l">
              <a:lnSpc>
                <a:spcPct val="100000"/>
              </a:lnSpc>
              <a:spcAft>
                <a:spcPts val="400"/>
              </a:spcAft>
            </a:pPr>
            <a:r>
              <a:rPr sz="1150" b="1" i="0">
                <a:solidFill>
                  <a:srgbClr val="F2B705"/>
                </a:solidFill>
                <a:latin typeface="Montserrat"/>
              </a:rPr>
              <a:t>VŨ KHÍ CỦA NGƯỜI</a:t>
            </a:r>
          </a:p>
        </p:txBody>
      </p:sp>
      <p:sp>
        <p:nvSpPr>
          <p:cNvPr id="29" name="TextBox 28"/>
          <p:cNvSpPr txBox="1"/>
          <p:nvPr/>
        </p:nvSpPr>
        <p:spPr>
          <a:xfrm>
            <a:off x="6629400" y="4059936"/>
            <a:ext cx="4892040" cy="685800"/>
          </a:xfrm>
          <a:prstGeom prst="rect">
            <a:avLst/>
          </a:prstGeom>
          <a:noFill/>
        </p:spPr>
        <p:txBody>
          <a:bodyPr wrap="square" anchor="t">
            <a:spAutoFit/>
          </a:bodyPr>
          <a:lstStyle/>
          <a:p>
            <a:pPr algn="l">
              <a:lnSpc>
                <a:spcPct val="100000"/>
              </a:lnSpc>
              <a:spcAft>
                <a:spcPts val="400"/>
              </a:spcAft>
            </a:pPr>
            <a:r>
              <a:rPr sz="1500" b="0" i="1">
                <a:solidFill>
                  <a:srgbClr val="F7F2E7"/>
                </a:solidFill>
                <a:latin typeface="Playfair Display"/>
              </a:rPr>
              <a:t>"Đôi tay thợ, máy in và ngòi bút trở thành vũ khí cách mạng."</a:t>
            </a:r>
          </a:p>
        </p:txBody>
      </p:sp>
      <p:sp>
        <p:nvSpPr>
          <p:cNvPr id="30" name="Rounded Rectangle 29"/>
          <p:cNvSpPr/>
          <p:nvPr/>
        </p:nvSpPr>
        <p:spPr>
          <a:xfrm>
            <a:off x="6629400" y="4773168"/>
            <a:ext cx="1828800" cy="36576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9400" y="4818888"/>
            <a:ext cx="1828800" cy="292608"/>
          </a:xfrm>
          <a:prstGeom prst="rect">
            <a:avLst/>
          </a:prstGeom>
          <a:noFill/>
        </p:spPr>
        <p:txBody>
          <a:bodyPr wrap="square" anchor="t">
            <a:spAutoFit/>
          </a:bodyPr>
          <a:lstStyle/>
          <a:p>
            <a:pPr algn="ctr">
              <a:lnSpc>
                <a:spcPct val="100000"/>
              </a:lnSpc>
              <a:spcAft>
                <a:spcPts val="400"/>
              </a:spcAft>
            </a:pPr>
            <a:r>
              <a:rPr sz="950" b="1" i="0">
                <a:solidFill>
                  <a:srgbClr val="F2B705"/>
                </a:solidFill>
                <a:latin typeface="Montserrat"/>
              </a:rPr>
              <a:t>CƠ SỞ LONG CHÂU</a:t>
            </a:r>
          </a:p>
        </p:txBody>
      </p:sp>
      <p:sp>
        <p:nvSpPr>
          <p:cNvPr id="32" name="Rounded Rectangle 31"/>
          <p:cNvSpPr/>
          <p:nvPr/>
        </p:nvSpPr>
        <p:spPr>
          <a:xfrm>
            <a:off x="8595360" y="4773168"/>
            <a:ext cx="1828800" cy="365760"/>
          </a:xfrm>
          <a:prstGeom prst="roundRect">
            <a:avLst/>
          </a:prstGeom>
          <a:noFill/>
          <a:ln w="12700">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0" y="4818888"/>
            <a:ext cx="1828800" cy="292608"/>
          </a:xfrm>
          <a:prstGeom prst="rect">
            <a:avLst/>
          </a:prstGeom>
          <a:noFill/>
        </p:spPr>
        <p:txBody>
          <a:bodyPr wrap="square" anchor="t">
            <a:spAutoFit/>
          </a:bodyPr>
          <a:lstStyle/>
          <a:p>
            <a:pPr algn="ctr">
              <a:lnSpc>
                <a:spcPct val="100000"/>
              </a:lnSpc>
              <a:spcAft>
                <a:spcPts val="400"/>
              </a:spcAft>
            </a:pPr>
            <a:r>
              <a:rPr sz="950" b="1" i="0">
                <a:solidFill>
                  <a:srgbClr val="F2B705"/>
                </a:solidFill>
                <a:latin typeface="Montserrat"/>
              </a:rPr>
              <a:t>MẠNG LƯỚI BÍ MẬT</a:t>
            </a:r>
          </a:p>
        </p:txBody>
      </p:sp>
      <p:sp>
        <p:nvSpPr>
          <p:cNvPr id="34" name="Rounded Rectangle 33"/>
          <p:cNvSpPr/>
          <p:nvPr/>
        </p:nvSpPr>
        <p:spPr>
          <a:xfrm>
            <a:off x="6355080" y="5532120"/>
            <a:ext cx="5349240" cy="960120"/>
          </a:xfrm>
          <a:prstGeom prst="roundRect">
            <a:avLst/>
          </a:prstGeom>
          <a:noFill/>
          <a:ln w="25400">
            <a:solidFill>
              <a:srgbClr val="D8C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7A0C1E"/>
                </a:solidFill>
                <a:latin typeface="Montserrat"/>
              </a:rPr>
              <a:t>🖼️  [ẢNH 2 — TÙY CHỌN]</a:t>
            </a:r>
          </a:p>
          <a:p>
            <a:pPr algn="ctr">
              <a:spcBef>
                <a:spcPts val="400"/>
              </a:spcBef>
            </a:pPr>
            <a:r>
              <a:rPr sz="1050">
                <a:solidFill>
                  <a:srgbClr val="6E6250"/>
                </a:solidFill>
                <a:latin typeface="Be Vietnam Pro"/>
              </a:rPr>
              <a:t>Ảnh xưởng Nam Hưng / nhà in Ngũ sắc thạch ấn / trang báo cũ — bạn sẽ gửi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0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
            <a:ext cx="12191695" cy="320040"/>
          </a:xfrm>
          <a:prstGeom prst="rect">
            <a:avLst/>
          </a:prstGeom>
          <a:noFill/>
        </p:spPr>
        <p:txBody>
          <a:bodyPr wrap="square" anchor="t">
            <a:spAutoFit/>
          </a:bodyPr>
          <a:lstStyle/>
          <a:p>
            <a:pPr algn="ctr">
              <a:lnSpc>
                <a:spcPct val="100000"/>
              </a:lnSpc>
              <a:spcAft>
                <a:spcPts val="400"/>
              </a:spcAft>
            </a:pPr>
            <a:r>
              <a:rPr sz="1250" b="1" i="0">
                <a:solidFill>
                  <a:srgbClr val="F2B705"/>
                </a:solidFill>
                <a:latin typeface="Montserrat"/>
              </a:rPr>
              <a:t>ĐIỂM NHẤN · MỘT HIỆN VẬT — MỘT CÂU CHUYỆN</a:t>
            </a:r>
          </a:p>
        </p:txBody>
      </p:sp>
      <p:sp>
        <p:nvSpPr>
          <p:cNvPr id="4" name="TextBox 3"/>
          <p:cNvSpPr txBox="1"/>
          <p:nvPr/>
        </p:nvSpPr>
        <p:spPr>
          <a:xfrm>
            <a:off x="0" y="566928"/>
            <a:ext cx="12191695" cy="548640"/>
          </a:xfrm>
          <a:prstGeom prst="rect">
            <a:avLst/>
          </a:prstGeom>
          <a:noFill/>
        </p:spPr>
        <p:txBody>
          <a:bodyPr wrap="square" anchor="t">
            <a:spAutoFit/>
          </a:bodyPr>
          <a:lstStyle/>
          <a:p>
            <a:pPr algn="ctr">
              <a:lnSpc>
                <a:spcPct val="100000"/>
              </a:lnSpc>
              <a:spcAft>
                <a:spcPts val="400"/>
              </a:spcAft>
            </a:pPr>
            <a:r>
              <a:rPr sz="2600" b="1" i="0">
                <a:solidFill>
                  <a:srgbClr val="FFFFFF"/>
                </a:solidFill>
                <a:latin typeface="Montserrat"/>
              </a:rPr>
              <a:t>XÀ LIM SỐ 1 — NƠI Ý CHÍ KHÔNG THỂ BIẾN MẤT</a:t>
            </a:r>
          </a:p>
        </p:txBody>
      </p:sp>
      <p:sp>
        <p:nvSpPr>
          <p:cNvPr id="5" name="Rounded Rectangle 4"/>
          <p:cNvSpPr/>
          <p:nvPr/>
        </p:nvSpPr>
        <p:spPr>
          <a:xfrm>
            <a:off x="548640" y="1298448"/>
            <a:ext cx="4343400" cy="3291840"/>
          </a:xfrm>
          <a:prstGeom prst="roundRect">
            <a:avLst/>
          </a:prstGeom>
          <a:noFill/>
          <a:ln w="25400">
            <a:solidFill>
              <a:srgbClr val="CFC4A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  [ẢNH 3] XÀ LIM SỐ 1 (CELLULE 1)</a:t>
            </a:r>
          </a:p>
          <a:p>
            <a:pPr algn="ctr">
              <a:spcBef>
                <a:spcPts val="400"/>
              </a:spcBef>
            </a:pPr>
            <a:r>
              <a:rPr sz="1050">
                <a:solidFill>
                  <a:srgbClr val="6E6250"/>
                </a:solidFill>
                <a:latin typeface="Be Vietnam Pro"/>
              </a:rPr>
              <a:t>Nhà tù Hỏa Lò — ảnh bạn sẽ gửi · tối ảnh 30% để hòa vào nền</a:t>
            </a:r>
          </a:p>
        </p:txBody>
      </p:sp>
      <p:sp>
        <p:nvSpPr>
          <p:cNvPr id="6" name="TextBox 5"/>
          <p:cNvSpPr txBox="1"/>
          <p:nvPr/>
        </p:nvSpPr>
        <p:spPr>
          <a:xfrm>
            <a:off x="548640" y="4663440"/>
            <a:ext cx="4343400" cy="365760"/>
          </a:xfrm>
          <a:prstGeom prst="rect">
            <a:avLst/>
          </a:prstGeom>
          <a:noFill/>
        </p:spPr>
        <p:txBody>
          <a:bodyPr wrap="square" anchor="t">
            <a:spAutoFit/>
          </a:bodyPr>
          <a:lstStyle/>
          <a:p>
            <a:pPr algn="ctr">
              <a:lnSpc>
                <a:spcPct val="100000"/>
              </a:lnSpc>
              <a:spcAft>
                <a:spcPts val="400"/>
              </a:spcAft>
            </a:pPr>
            <a:r>
              <a:rPr sz="1050" b="0" i="1">
                <a:solidFill>
                  <a:srgbClr val="E9E1CE"/>
                </a:solidFill>
                <a:latin typeface="Be Vietnam Pro"/>
              </a:rPr>
              <a:t>Hiện vật: Xà lim số 1 — nơi giam đồng chí sau ngày 25/8/1943</a:t>
            </a:r>
          </a:p>
        </p:txBody>
      </p:sp>
      <p:sp>
        <p:nvSpPr>
          <p:cNvPr id="7" name="Rounded Rectangle 6"/>
          <p:cNvSpPr/>
          <p:nvPr/>
        </p:nvSpPr>
        <p:spPr>
          <a:xfrm>
            <a:off x="5257800" y="1298448"/>
            <a:ext cx="6400800" cy="3429000"/>
          </a:xfrm>
          <a:prstGeom prst="roundRect">
            <a:avLst/>
          </a:prstGeom>
          <a:solidFill>
            <a:srgbClr val="F7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0" y="1298448"/>
            <a:ext cx="1097280" cy="822960"/>
          </a:xfrm>
          <a:prstGeom prst="rect">
            <a:avLst/>
          </a:prstGeom>
          <a:noFill/>
        </p:spPr>
        <p:txBody>
          <a:bodyPr wrap="square" anchor="t">
            <a:spAutoFit/>
          </a:bodyPr>
          <a:lstStyle/>
          <a:p>
            <a:pPr algn="l">
              <a:lnSpc>
                <a:spcPct val="100000"/>
              </a:lnSpc>
              <a:spcAft>
                <a:spcPts val="400"/>
              </a:spcAft>
            </a:pPr>
            <a:r>
              <a:rPr sz="5200" b="1" i="0">
                <a:solidFill>
                  <a:srgbClr val="F2B705"/>
                </a:solidFill>
                <a:latin typeface="Montserrat"/>
              </a:rPr>
              <a:t>“</a:t>
            </a:r>
          </a:p>
        </p:txBody>
      </p:sp>
      <p:sp>
        <p:nvSpPr>
          <p:cNvPr id="9" name="TextBox 8"/>
          <p:cNvSpPr txBox="1"/>
          <p:nvPr/>
        </p:nvSpPr>
        <p:spPr>
          <a:xfrm>
            <a:off x="5486400" y="2011680"/>
            <a:ext cx="5943600" cy="1600200"/>
          </a:xfrm>
          <a:prstGeom prst="rect">
            <a:avLst/>
          </a:prstGeom>
          <a:noFill/>
        </p:spPr>
        <p:txBody>
          <a:bodyPr wrap="square" anchor="t">
            <a:spAutoFit/>
          </a:bodyPr>
          <a:lstStyle/>
          <a:p>
            <a:pPr algn="l">
              <a:lnSpc>
                <a:spcPct val="130000"/>
              </a:lnSpc>
              <a:spcAft>
                <a:spcPts val="400"/>
              </a:spcAft>
            </a:pPr>
            <a:r>
              <a:rPr sz="1650" b="0" i="1">
                <a:solidFill>
                  <a:srgbClr val="4A2E1C"/>
                </a:solidFill>
                <a:latin typeface="Playfair Display"/>
              </a:rPr>
              <a:t>[Trích 2–4 câu bài thơ "Nhắn bạn" — chỉ dùng trích đoạn đã được xác thực trong tư liệu của trường — bạn sẽ gửi/nhận từ thầy cô]</a:t>
            </a:r>
          </a:p>
        </p:txBody>
      </p:sp>
      <p:sp>
        <p:nvSpPr>
          <p:cNvPr id="10" name="Rectangle 9"/>
          <p:cNvSpPr/>
          <p:nvPr/>
        </p:nvSpPr>
        <p:spPr>
          <a:xfrm>
            <a:off x="5486400" y="3950208"/>
            <a:ext cx="5943600" cy="27432"/>
          </a:xfrm>
          <a:prstGeom prst="rect">
            <a:avLst/>
          </a:prstGeom>
          <a:solidFill>
            <a:srgbClr val="E0D5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0" y="4069080"/>
            <a:ext cx="5943600" cy="548640"/>
          </a:xfrm>
          <a:prstGeom prst="rect">
            <a:avLst/>
          </a:prstGeom>
          <a:noFill/>
        </p:spPr>
        <p:txBody>
          <a:bodyPr wrap="square" anchor="t">
            <a:spAutoFit/>
          </a:bodyPr>
          <a:lstStyle/>
          <a:p>
            <a:pPr algn="l">
              <a:lnSpc>
                <a:spcPct val="100000"/>
              </a:lnSpc>
              <a:spcAft>
                <a:spcPts val="400"/>
              </a:spcAft>
            </a:pPr>
            <a:r>
              <a:rPr sz="1150" b="1" i="0">
                <a:solidFill>
                  <a:srgbClr val="8C5A3C"/>
                </a:solidFill>
                <a:latin typeface="Montserrat"/>
              </a:rPr>
              <a:t>— ĐỒNG CHÍ HOÀNG VĂN THỤ · VIẾT BẰNG GẠCH NON TẠI XÀ LIM SỐ 1 (1943 – 1944)</a:t>
            </a:r>
          </a:p>
        </p:txBody>
      </p:sp>
      <p:sp>
        <p:nvSpPr>
          <p:cNvPr id="12" name="Chevron 11"/>
          <p:cNvSpPr/>
          <p:nvPr/>
        </p:nvSpPr>
        <p:spPr>
          <a:xfrm>
            <a:off x="548640" y="5257800"/>
            <a:ext cx="2743200" cy="1143000"/>
          </a:xfrm>
          <a:prstGeom prst="chevron">
            <a:avLst/>
          </a:prstGeom>
          <a:solidFill>
            <a:srgbClr val="3A1119"/>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25/8/1943</a:t>
            </a:r>
          </a:p>
          <a:p>
            <a:pPr algn="ctr"/>
            <a:r>
              <a:rPr sz="950">
                <a:solidFill>
                  <a:srgbClr val="E9E1CE"/>
                </a:solidFill>
                <a:latin typeface="Be Vietnam Pro"/>
              </a:rPr>
              <a:t>BỊ THỰC DÂN PHÁP BẮT</a:t>
            </a:r>
          </a:p>
        </p:txBody>
      </p:sp>
      <p:sp>
        <p:nvSpPr>
          <p:cNvPr id="13" name="Chevron 12"/>
          <p:cNvSpPr/>
          <p:nvPr/>
        </p:nvSpPr>
        <p:spPr>
          <a:xfrm>
            <a:off x="3410712" y="5257800"/>
            <a:ext cx="2743200" cy="1143000"/>
          </a:xfrm>
          <a:prstGeom prst="chevron">
            <a:avLst/>
          </a:prstGeom>
          <a:solidFill>
            <a:srgbClr val="3A1119"/>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XÀ LIM SỐ 1</a:t>
            </a:r>
          </a:p>
          <a:p>
            <a:pPr algn="ctr"/>
            <a:r>
              <a:rPr sz="950">
                <a:solidFill>
                  <a:srgbClr val="E9E1CE"/>
                </a:solidFill>
                <a:latin typeface="Be Vietnam Pro"/>
              </a:rPr>
              <a:t>NHÀ TÙ HỎA LÒ</a:t>
            </a:r>
          </a:p>
        </p:txBody>
      </p:sp>
      <p:sp>
        <p:nvSpPr>
          <p:cNvPr id="14" name="Chevron 13"/>
          <p:cNvSpPr/>
          <p:nvPr/>
        </p:nvSpPr>
        <p:spPr>
          <a:xfrm>
            <a:off x="6272783" y="5257800"/>
            <a:ext cx="2743200" cy="1143000"/>
          </a:xfrm>
          <a:prstGeom prst="chevron">
            <a:avLst/>
          </a:prstGeom>
          <a:solidFill>
            <a:srgbClr val="3A1119"/>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GẠCH NON</a:t>
            </a:r>
          </a:p>
          <a:p>
            <a:pPr algn="ctr"/>
            <a:r>
              <a:rPr sz="950">
                <a:solidFill>
                  <a:srgbClr val="E9E1CE"/>
                </a:solidFill>
                <a:latin typeface="Be Vietnam Pro"/>
              </a:rPr>
              <a:t>VIẾT "NHẮN BẠN" LÊN VÁCH TÙ</a:t>
            </a:r>
          </a:p>
        </p:txBody>
      </p:sp>
      <p:sp>
        <p:nvSpPr>
          <p:cNvPr id="15" name="Chevron 14"/>
          <p:cNvSpPr/>
          <p:nvPr/>
        </p:nvSpPr>
        <p:spPr>
          <a:xfrm>
            <a:off x="9134855" y="5257800"/>
            <a:ext cx="2743200" cy="1143000"/>
          </a:xfrm>
          <a:prstGeom prst="chevron">
            <a:avLst/>
          </a:prstGeom>
          <a:solidFill>
            <a:srgbClr val="3A1119"/>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2B705"/>
                </a:solidFill>
                <a:latin typeface="Montserrat"/>
              </a:rPr>
              <a:t>24/5/1944 · TƯƠNG MAI</a:t>
            </a:r>
          </a:p>
          <a:p>
            <a:pPr algn="ctr"/>
            <a:r>
              <a:rPr sz="950">
                <a:solidFill>
                  <a:srgbClr val="E9E1CE"/>
                </a:solidFill>
                <a:latin typeface="Be Vietnam Pro"/>
              </a:rPr>
              <a:t>HIÊN NGANG — TỪ CHỐI BỊT MẮT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784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8961120" cy="548640"/>
          </a:xfrm>
          <a:prstGeom prst="rect">
            <a:avLst/>
          </a:prstGeom>
          <a:noFill/>
        </p:spPr>
        <p:txBody>
          <a:bodyPr wrap="square" anchor="t">
            <a:spAutoFit/>
          </a:bodyPr>
          <a:lstStyle/>
          <a:p>
            <a:pPr algn="l">
              <a:lnSpc>
                <a:spcPct val="100000"/>
              </a:lnSpc>
              <a:spcAft>
                <a:spcPts val="400"/>
              </a:spcAft>
            </a:pPr>
            <a:r>
              <a:rPr sz="2300" b="1" i="0">
                <a:solidFill>
                  <a:srgbClr val="FFFFFF"/>
                </a:solidFill>
                <a:latin typeface="Montserrat"/>
              </a:rPr>
              <a:t>TIẾT 2 · LỊCH SỬ NGÔI TRƯỜNG MANG TÊN NGƯỜI</a:t>
            </a:r>
          </a:p>
        </p:txBody>
      </p:sp>
      <p:sp>
        <p:nvSpPr>
          <p:cNvPr id="5" name="Rounded Rectangle 4"/>
          <p:cNvSpPr/>
          <p:nvPr/>
        </p:nvSpPr>
        <p:spPr>
          <a:xfrm>
            <a:off x="9966960" y="274320"/>
            <a:ext cx="1737360" cy="420624"/>
          </a:xfrm>
          <a:prstGeom prst="round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60" y="310896"/>
            <a:ext cx="1737360" cy="347472"/>
          </a:xfrm>
          <a:prstGeom prst="rect">
            <a:avLst/>
          </a:prstGeom>
          <a:noFill/>
        </p:spPr>
        <p:txBody>
          <a:bodyPr wrap="square" anchor="t">
            <a:spAutoFit/>
          </a:bodyPr>
          <a:lstStyle/>
          <a:p>
            <a:pPr algn="ctr">
              <a:lnSpc>
                <a:spcPct val="100000"/>
              </a:lnSpc>
              <a:spcAft>
                <a:spcPts val="400"/>
              </a:spcAft>
            </a:pPr>
            <a:r>
              <a:rPr sz="1200" b="1" i="0">
                <a:solidFill>
                  <a:srgbClr val="FFFFFF"/>
                </a:solidFill>
                <a:latin typeface="Montserrat"/>
              </a:rPr>
              <a:t>1979 → NAY</a:t>
            </a:r>
          </a:p>
        </p:txBody>
      </p:sp>
      <p:sp>
        <p:nvSpPr>
          <p:cNvPr id="7" name="Rectangle 6"/>
          <p:cNvSpPr/>
          <p:nvPr/>
        </p:nvSpPr>
        <p:spPr>
          <a:xfrm>
            <a:off x="548640" y="2907792"/>
            <a:ext cx="11091672" cy="54864"/>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417320"/>
            <a:ext cx="2670048" cy="26974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2670048" cy="128016"/>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45920"/>
            <a:ext cx="2377440" cy="411480"/>
          </a:xfrm>
          <a:prstGeom prst="rect">
            <a:avLst/>
          </a:prstGeom>
          <a:noFill/>
        </p:spPr>
        <p:txBody>
          <a:bodyPr wrap="square" anchor="t">
            <a:spAutoFit/>
          </a:bodyPr>
          <a:lstStyle/>
          <a:p>
            <a:pPr algn="l">
              <a:lnSpc>
                <a:spcPct val="100000"/>
              </a:lnSpc>
              <a:spcAft>
                <a:spcPts val="400"/>
              </a:spcAft>
            </a:pPr>
            <a:r>
              <a:rPr sz="1700" b="1" i="0">
                <a:solidFill>
                  <a:srgbClr val="7A0C1E"/>
                </a:solidFill>
                <a:latin typeface="Montserrat"/>
              </a:rPr>
              <a:t>1979 – 1984</a:t>
            </a:r>
          </a:p>
        </p:txBody>
      </p:sp>
      <p:sp>
        <p:nvSpPr>
          <p:cNvPr id="11" name="TextBox 10"/>
          <p:cNvSpPr txBox="1"/>
          <p:nvPr/>
        </p:nvSpPr>
        <p:spPr>
          <a:xfrm>
            <a:off x="731520" y="2084831"/>
            <a:ext cx="2377440" cy="365760"/>
          </a:xfrm>
          <a:prstGeom prst="rect">
            <a:avLst/>
          </a:prstGeom>
          <a:noFill/>
        </p:spPr>
        <p:txBody>
          <a:bodyPr wrap="square" anchor="t">
            <a:spAutoFit/>
          </a:bodyPr>
          <a:lstStyle/>
          <a:p>
            <a:pPr algn="l">
              <a:lnSpc>
                <a:spcPct val="100000"/>
              </a:lnSpc>
              <a:spcAft>
                <a:spcPts val="400"/>
              </a:spcAft>
            </a:pPr>
            <a:r>
              <a:rPr sz="1050" b="1" i="0">
                <a:solidFill>
                  <a:srgbClr val="1B2A4A"/>
                </a:solidFill>
                <a:latin typeface="Montserrat"/>
              </a:rPr>
              <a:t>PHÂN HIỆU CẤP 3 UÔNG BÍ</a:t>
            </a:r>
          </a:p>
        </p:txBody>
      </p:sp>
      <p:sp>
        <p:nvSpPr>
          <p:cNvPr id="12" name="TextBox 11"/>
          <p:cNvSpPr txBox="1"/>
          <p:nvPr/>
        </p:nvSpPr>
        <p:spPr>
          <a:xfrm>
            <a:off x="731520" y="2487168"/>
            <a:ext cx="2377440" cy="1463040"/>
          </a:xfrm>
          <a:prstGeom prst="rect">
            <a:avLst/>
          </a:prstGeom>
          <a:noFill/>
        </p:spPr>
        <p:txBody>
          <a:bodyPr wrap="square" anchor="t">
            <a:spAutoFit/>
          </a:bodyPr>
          <a:lstStyle/>
          <a:p>
            <a:pPr algn="l">
              <a:lnSpc>
                <a:spcPct val="110000"/>
              </a:lnSpc>
              <a:spcAft>
                <a:spcPts val="300"/>
              </a:spcAft>
            </a:pPr>
            <a:r>
              <a:rPr sz="1050" b="0" i="0">
                <a:solidFill>
                  <a:srgbClr val="232A33"/>
                </a:solidFill>
                <a:latin typeface="Be Vietnam Pro"/>
              </a:rPr>
              <a:t>• Bắt đầu với 3 lớp</a:t>
            </a:r>
          </a:p>
          <a:p>
            <a:pPr algn="l">
              <a:lnSpc>
                <a:spcPct val="110000"/>
              </a:lnSpc>
              <a:spcAft>
                <a:spcPts val="300"/>
              </a:spcAft>
            </a:pPr>
            <a:r>
              <a:rPr sz="1050" b="0" i="0">
                <a:solidFill>
                  <a:srgbClr val="232A33"/>
                </a:solidFill>
                <a:latin typeface="Be Vietnam Pro"/>
              </a:rPr>
              <a:t>• Phát triển lên 6 lớp</a:t>
            </a:r>
          </a:p>
        </p:txBody>
      </p:sp>
      <p:sp>
        <p:nvSpPr>
          <p:cNvPr id="13" name="Rounded Rectangle 12"/>
          <p:cNvSpPr/>
          <p:nvPr/>
        </p:nvSpPr>
        <p:spPr>
          <a:xfrm>
            <a:off x="3355848" y="1417320"/>
            <a:ext cx="2670048" cy="26974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55848" y="1417320"/>
            <a:ext cx="2670048" cy="128016"/>
          </a:xfrm>
          <a:prstGeom prst="rect">
            <a:avLst/>
          </a:prstGeom>
          <a:solidFill>
            <a:srgbClr val="8C5A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38728" y="1645920"/>
            <a:ext cx="2377440" cy="411480"/>
          </a:xfrm>
          <a:prstGeom prst="rect">
            <a:avLst/>
          </a:prstGeom>
          <a:noFill/>
        </p:spPr>
        <p:txBody>
          <a:bodyPr wrap="square" anchor="t">
            <a:spAutoFit/>
          </a:bodyPr>
          <a:lstStyle/>
          <a:p>
            <a:pPr algn="l">
              <a:lnSpc>
                <a:spcPct val="100000"/>
              </a:lnSpc>
              <a:spcAft>
                <a:spcPts val="400"/>
              </a:spcAft>
            </a:pPr>
            <a:r>
              <a:rPr sz="1700" b="1" i="0">
                <a:solidFill>
                  <a:srgbClr val="7A0C1E"/>
                </a:solidFill>
                <a:latin typeface="Montserrat"/>
              </a:rPr>
              <a:t>17/11/1984</a:t>
            </a:r>
          </a:p>
        </p:txBody>
      </p:sp>
      <p:sp>
        <p:nvSpPr>
          <p:cNvPr id="16" name="TextBox 15"/>
          <p:cNvSpPr txBox="1"/>
          <p:nvPr/>
        </p:nvSpPr>
        <p:spPr>
          <a:xfrm>
            <a:off x="3538728" y="2084831"/>
            <a:ext cx="2377440" cy="365760"/>
          </a:xfrm>
          <a:prstGeom prst="rect">
            <a:avLst/>
          </a:prstGeom>
          <a:noFill/>
        </p:spPr>
        <p:txBody>
          <a:bodyPr wrap="square" anchor="t">
            <a:spAutoFit/>
          </a:bodyPr>
          <a:lstStyle/>
          <a:p>
            <a:pPr algn="l">
              <a:lnSpc>
                <a:spcPct val="100000"/>
              </a:lnSpc>
              <a:spcAft>
                <a:spcPts val="400"/>
              </a:spcAft>
            </a:pPr>
            <a:r>
              <a:rPr sz="1050" b="1" i="0">
                <a:solidFill>
                  <a:srgbClr val="1B2A4A"/>
                </a:solidFill>
                <a:latin typeface="Montserrat"/>
              </a:rPr>
              <a:t>THÀNH LẬP TRƯỜNG</a:t>
            </a:r>
          </a:p>
        </p:txBody>
      </p:sp>
      <p:sp>
        <p:nvSpPr>
          <p:cNvPr id="17" name="TextBox 16"/>
          <p:cNvSpPr txBox="1"/>
          <p:nvPr/>
        </p:nvSpPr>
        <p:spPr>
          <a:xfrm>
            <a:off x="3538728" y="2487168"/>
            <a:ext cx="2377440" cy="1463040"/>
          </a:xfrm>
          <a:prstGeom prst="rect">
            <a:avLst/>
          </a:prstGeom>
          <a:noFill/>
        </p:spPr>
        <p:txBody>
          <a:bodyPr wrap="square" anchor="t">
            <a:spAutoFit/>
          </a:bodyPr>
          <a:lstStyle/>
          <a:p>
            <a:pPr algn="l">
              <a:lnSpc>
                <a:spcPct val="110000"/>
              </a:lnSpc>
              <a:spcAft>
                <a:spcPts val="300"/>
              </a:spcAft>
            </a:pPr>
            <a:r>
              <a:rPr sz="1050" b="0" i="0">
                <a:solidFill>
                  <a:srgbClr val="232A33"/>
                </a:solidFill>
                <a:latin typeface="Be Vietnam Pro"/>
              </a:rPr>
              <a:t>• Quyết định số 645/QĐ-UBND</a:t>
            </a:r>
          </a:p>
          <a:p>
            <a:pPr algn="l">
              <a:lnSpc>
                <a:spcPct val="110000"/>
              </a:lnSpc>
              <a:spcAft>
                <a:spcPts val="300"/>
              </a:spcAft>
            </a:pPr>
            <a:r>
              <a:rPr sz="1050" b="0" i="0">
                <a:solidFill>
                  <a:srgbClr val="232A33"/>
                </a:solidFill>
                <a:latin typeface="Be Vietnam Pro"/>
              </a:rPr>
              <a:t>• Tên đầu: Trường Trung học kỹ thuật Hoàng Văn Thụ</a:t>
            </a:r>
          </a:p>
        </p:txBody>
      </p:sp>
      <p:sp>
        <p:nvSpPr>
          <p:cNvPr id="18" name="Rounded Rectangle 17"/>
          <p:cNvSpPr/>
          <p:nvPr/>
        </p:nvSpPr>
        <p:spPr>
          <a:xfrm>
            <a:off x="6163056" y="1417320"/>
            <a:ext cx="2670048" cy="26974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1417320"/>
            <a:ext cx="2670048"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1645920"/>
            <a:ext cx="2377440" cy="411480"/>
          </a:xfrm>
          <a:prstGeom prst="rect">
            <a:avLst/>
          </a:prstGeom>
          <a:noFill/>
        </p:spPr>
        <p:txBody>
          <a:bodyPr wrap="square" anchor="t">
            <a:spAutoFit/>
          </a:bodyPr>
          <a:lstStyle/>
          <a:p>
            <a:pPr algn="l">
              <a:lnSpc>
                <a:spcPct val="100000"/>
              </a:lnSpc>
              <a:spcAft>
                <a:spcPts val="400"/>
              </a:spcAft>
            </a:pPr>
            <a:r>
              <a:rPr sz="1700" b="1" i="0">
                <a:solidFill>
                  <a:srgbClr val="7A0C1E"/>
                </a:solidFill>
                <a:latin typeface="Montserrat"/>
              </a:rPr>
              <a:t>1989 – 2007</a:t>
            </a:r>
          </a:p>
        </p:txBody>
      </p:sp>
      <p:sp>
        <p:nvSpPr>
          <p:cNvPr id="21" name="TextBox 20"/>
          <p:cNvSpPr txBox="1"/>
          <p:nvPr/>
        </p:nvSpPr>
        <p:spPr>
          <a:xfrm>
            <a:off x="6345936" y="2084831"/>
            <a:ext cx="2377440" cy="365760"/>
          </a:xfrm>
          <a:prstGeom prst="rect">
            <a:avLst/>
          </a:prstGeom>
          <a:noFill/>
        </p:spPr>
        <p:txBody>
          <a:bodyPr wrap="square" anchor="t">
            <a:spAutoFit/>
          </a:bodyPr>
          <a:lstStyle/>
          <a:p>
            <a:pPr algn="l">
              <a:lnSpc>
                <a:spcPct val="100000"/>
              </a:lnSpc>
              <a:spcAft>
                <a:spcPts val="400"/>
              </a:spcAft>
            </a:pPr>
            <a:r>
              <a:rPr sz="1050" b="1" i="0">
                <a:solidFill>
                  <a:srgbClr val="1B2A4A"/>
                </a:solidFill>
                <a:latin typeface="Montserrat"/>
              </a:rPr>
              <a:t>THPT HOÀNG VĂN THỤ</a:t>
            </a:r>
          </a:p>
        </p:txBody>
      </p:sp>
      <p:sp>
        <p:nvSpPr>
          <p:cNvPr id="22" name="TextBox 21"/>
          <p:cNvSpPr txBox="1"/>
          <p:nvPr/>
        </p:nvSpPr>
        <p:spPr>
          <a:xfrm>
            <a:off x="6345936" y="2487168"/>
            <a:ext cx="2377440" cy="1463040"/>
          </a:xfrm>
          <a:prstGeom prst="rect">
            <a:avLst/>
          </a:prstGeom>
          <a:noFill/>
        </p:spPr>
        <p:txBody>
          <a:bodyPr wrap="square" anchor="t">
            <a:spAutoFit/>
          </a:bodyPr>
          <a:lstStyle/>
          <a:p>
            <a:pPr algn="l">
              <a:lnSpc>
                <a:spcPct val="110000"/>
              </a:lnSpc>
              <a:spcAft>
                <a:spcPts val="300"/>
              </a:spcAft>
            </a:pPr>
            <a:r>
              <a:rPr sz="1050" b="0" i="0">
                <a:solidFill>
                  <a:srgbClr val="232A33"/>
                </a:solidFill>
                <a:latin typeface="Be Vietnam Pro"/>
              </a:rPr>
              <a:t>• Sáp nhập THCS Nguyễn Văn Cừ</a:t>
            </a:r>
          </a:p>
          <a:p>
            <a:pPr algn="l">
              <a:lnSpc>
                <a:spcPct val="110000"/>
              </a:lnSpc>
              <a:spcAft>
                <a:spcPts val="300"/>
              </a:spcAft>
            </a:pPr>
            <a:r>
              <a:rPr sz="1050" b="0" i="0">
                <a:solidFill>
                  <a:srgbClr val="232A33"/>
                </a:solidFill>
                <a:latin typeface="Be Vietnam Pro"/>
              </a:rPr>
              <a:t>• Liên cấp lớn nhất tỉnh: 40 lớp, hơn 1.800 HS</a:t>
            </a:r>
          </a:p>
        </p:txBody>
      </p:sp>
      <p:sp>
        <p:nvSpPr>
          <p:cNvPr id="23" name="Rounded Rectangle 22"/>
          <p:cNvSpPr/>
          <p:nvPr/>
        </p:nvSpPr>
        <p:spPr>
          <a:xfrm>
            <a:off x="8970264" y="1417320"/>
            <a:ext cx="2670048" cy="26974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70264" y="1417320"/>
            <a:ext cx="2670048" cy="128016"/>
          </a:xfrm>
          <a:prstGeom prst="rect">
            <a:avLst/>
          </a:prstGeom>
          <a:solidFill>
            <a:srgbClr val="D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53144" y="1645920"/>
            <a:ext cx="2377440" cy="411480"/>
          </a:xfrm>
          <a:prstGeom prst="rect">
            <a:avLst/>
          </a:prstGeom>
          <a:noFill/>
        </p:spPr>
        <p:txBody>
          <a:bodyPr wrap="square" anchor="t">
            <a:spAutoFit/>
          </a:bodyPr>
          <a:lstStyle/>
          <a:p>
            <a:pPr algn="l">
              <a:lnSpc>
                <a:spcPct val="100000"/>
              </a:lnSpc>
              <a:spcAft>
                <a:spcPts val="400"/>
              </a:spcAft>
            </a:pPr>
            <a:r>
              <a:rPr sz="1700" b="1" i="0">
                <a:solidFill>
                  <a:srgbClr val="7A0C1E"/>
                </a:solidFill>
                <a:latin typeface="Montserrat"/>
              </a:rPr>
              <a:t>2007 – NAY</a:t>
            </a:r>
          </a:p>
        </p:txBody>
      </p:sp>
      <p:sp>
        <p:nvSpPr>
          <p:cNvPr id="26" name="TextBox 25"/>
          <p:cNvSpPr txBox="1"/>
          <p:nvPr/>
        </p:nvSpPr>
        <p:spPr>
          <a:xfrm>
            <a:off x="9153144" y="2084831"/>
            <a:ext cx="2377440" cy="365760"/>
          </a:xfrm>
          <a:prstGeom prst="rect">
            <a:avLst/>
          </a:prstGeom>
          <a:noFill/>
        </p:spPr>
        <p:txBody>
          <a:bodyPr wrap="square" anchor="t">
            <a:spAutoFit/>
          </a:bodyPr>
          <a:lstStyle/>
          <a:p>
            <a:pPr algn="l">
              <a:lnSpc>
                <a:spcPct val="100000"/>
              </a:lnSpc>
              <a:spcAft>
                <a:spcPts val="400"/>
              </a:spcAft>
            </a:pPr>
            <a:r>
              <a:rPr sz="1050" b="1" i="0">
                <a:solidFill>
                  <a:srgbClr val="1B2A4A"/>
                </a:solidFill>
                <a:latin typeface="Montserrat"/>
              </a:rPr>
              <a:t>PHÁT TRIỂN BỀN VỮNG</a:t>
            </a:r>
          </a:p>
        </p:txBody>
      </p:sp>
      <p:sp>
        <p:nvSpPr>
          <p:cNvPr id="27" name="TextBox 26"/>
          <p:cNvSpPr txBox="1"/>
          <p:nvPr/>
        </p:nvSpPr>
        <p:spPr>
          <a:xfrm>
            <a:off x="9153144" y="2487168"/>
            <a:ext cx="2377440" cy="1463040"/>
          </a:xfrm>
          <a:prstGeom prst="rect">
            <a:avLst/>
          </a:prstGeom>
          <a:noFill/>
        </p:spPr>
        <p:txBody>
          <a:bodyPr wrap="square" anchor="t">
            <a:spAutoFit/>
          </a:bodyPr>
          <a:lstStyle/>
          <a:p>
            <a:pPr algn="l">
              <a:lnSpc>
                <a:spcPct val="110000"/>
              </a:lnSpc>
              <a:spcAft>
                <a:spcPts val="300"/>
              </a:spcAft>
            </a:pPr>
            <a:r>
              <a:rPr sz="1050" b="0" i="0">
                <a:solidFill>
                  <a:srgbClr val="232A33"/>
                </a:solidFill>
                <a:latin typeface="Be Vietnam Pro"/>
              </a:rPr>
              <a:t>• Tách riêng cấp 3</a:t>
            </a:r>
          </a:p>
          <a:p>
            <a:pPr algn="l">
              <a:lnSpc>
                <a:spcPct val="110000"/>
              </a:lnSpc>
              <a:spcAft>
                <a:spcPts val="300"/>
              </a:spcAft>
            </a:pPr>
            <a:r>
              <a:rPr sz="1050" b="0" i="0">
                <a:solidFill>
                  <a:srgbClr val="232A33"/>
                </a:solidFill>
                <a:latin typeface="Be Vietnam Pro"/>
              </a:rPr>
              <a:t>• Chuẩn Quốc gia (4/2012)</a:t>
            </a:r>
          </a:p>
          <a:p>
            <a:pPr algn="l">
              <a:lnSpc>
                <a:spcPct val="110000"/>
              </a:lnSpc>
              <a:spcAft>
                <a:spcPts val="300"/>
              </a:spcAft>
            </a:pPr>
            <a:r>
              <a:rPr sz="1050" b="0" i="0">
                <a:solidFill>
                  <a:srgbClr val="232A33"/>
                </a:solidFill>
                <a:latin typeface="Be Vietnam Pro"/>
              </a:rPr>
              <a:t>• Bằng khen Thủ tướng CP (2014)</a:t>
            </a:r>
          </a:p>
        </p:txBody>
      </p:sp>
      <p:sp>
        <p:nvSpPr>
          <p:cNvPr id="28" name="Rounded Rectangle 27"/>
          <p:cNvSpPr/>
          <p:nvPr/>
        </p:nvSpPr>
        <p:spPr>
          <a:xfrm>
            <a:off x="548640" y="4343400"/>
            <a:ext cx="5120640" cy="1371600"/>
          </a:xfrm>
          <a:prstGeom prst="roundRect">
            <a:avLst/>
          </a:prstGeom>
          <a:noFill/>
          <a:ln w="25400">
            <a:solidFill>
              <a:srgbClr val="D8C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7A0C1E"/>
                </a:solidFill>
                <a:latin typeface="Montserrat"/>
              </a:rPr>
              <a:t>🖼️  [ẢNH 5] TRƯỜNG XƯA</a:t>
            </a:r>
          </a:p>
          <a:p>
            <a:pPr algn="ctr">
              <a:spcBef>
                <a:spcPts val="400"/>
              </a:spcBef>
            </a:pPr>
            <a:r>
              <a:rPr sz="1050">
                <a:solidFill>
                  <a:srgbClr val="6E6250"/>
                </a:solidFill>
                <a:latin typeface="Be Vietnam Pro"/>
              </a:rPr>
              <a:t>Ảnh tư liệu giai đoạn đầu — bạn sẽ gửi</a:t>
            </a:r>
          </a:p>
        </p:txBody>
      </p:sp>
      <p:sp>
        <p:nvSpPr>
          <p:cNvPr id="29" name="Rounded Rectangle 28"/>
          <p:cNvSpPr/>
          <p:nvPr/>
        </p:nvSpPr>
        <p:spPr>
          <a:xfrm>
            <a:off x="6519672" y="4343400"/>
            <a:ext cx="5120640" cy="1371600"/>
          </a:xfrm>
          <a:prstGeom prst="roundRect">
            <a:avLst/>
          </a:prstGeom>
          <a:noFill/>
          <a:ln w="25400">
            <a:solidFill>
              <a:srgbClr val="D8CB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7A0C1E"/>
                </a:solidFill>
                <a:latin typeface="Montserrat"/>
              </a:rPr>
              <a:t>🖼️  [ẢNH 6] TRƯỜNG HÔM NAY</a:t>
            </a:r>
          </a:p>
          <a:p>
            <a:pPr algn="ctr">
              <a:spcBef>
                <a:spcPts val="400"/>
              </a:spcBef>
            </a:pPr>
            <a:r>
              <a:rPr sz="1050">
                <a:solidFill>
                  <a:srgbClr val="6E6250"/>
                </a:solidFill>
                <a:latin typeface="Be Vietnam Pro"/>
              </a:rPr>
              <a:t>Ảnh cổng/sân trường hiện tại — bạn sẽ gửi</a:t>
            </a:r>
          </a:p>
        </p:txBody>
      </p:sp>
      <p:sp>
        <p:nvSpPr>
          <p:cNvPr id="30" name="Rounded Rectangle 29"/>
          <p:cNvSpPr/>
          <p:nvPr/>
        </p:nvSpPr>
        <p:spPr>
          <a:xfrm>
            <a:off x="1051560" y="5989320"/>
            <a:ext cx="3108960" cy="457200"/>
          </a:xfrm>
          <a:prstGeom prst="roundRect">
            <a:avLst/>
          </a:prstGeom>
          <a:solidFill>
            <a:srgbClr val="FFF6DC"/>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 y="6053328"/>
            <a:ext cx="3108960" cy="347472"/>
          </a:xfrm>
          <a:prstGeom prst="rect">
            <a:avLst/>
          </a:prstGeom>
          <a:noFill/>
        </p:spPr>
        <p:txBody>
          <a:bodyPr wrap="square" anchor="t">
            <a:spAutoFit/>
          </a:bodyPr>
          <a:lstStyle/>
          <a:p>
            <a:pPr algn="ctr">
              <a:lnSpc>
                <a:spcPct val="100000"/>
              </a:lnSpc>
              <a:spcAft>
                <a:spcPts val="400"/>
              </a:spcAft>
            </a:pPr>
            <a:r>
              <a:rPr sz="1100" b="1" i="0">
                <a:solidFill>
                  <a:srgbClr val="7A5C00"/>
                </a:solidFill>
                <a:latin typeface="Montserrat"/>
              </a:rPr>
              <a:t>★ Chuẩn Quốc gia — 4/2012</a:t>
            </a:r>
          </a:p>
        </p:txBody>
      </p:sp>
      <p:sp>
        <p:nvSpPr>
          <p:cNvPr id="32" name="Rounded Rectangle 31"/>
          <p:cNvSpPr/>
          <p:nvPr/>
        </p:nvSpPr>
        <p:spPr>
          <a:xfrm>
            <a:off x="4480560" y="5989320"/>
            <a:ext cx="3108960" cy="457200"/>
          </a:xfrm>
          <a:prstGeom prst="roundRect">
            <a:avLst/>
          </a:prstGeom>
          <a:solidFill>
            <a:srgbClr val="FFF6DC"/>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60" y="6053328"/>
            <a:ext cx="3108960" cy="347472"/>
          </a:xfrm>
          <a:prstGeom prst="rect">
            <a:avLst/>
          </a:prstGeom>
          <a:noFill/>
        </p:spPr>
        <p:txBody>
          <a:bodyPr wrap="square" anchor="t">
            <a:spAutoFit/>
          </a:bodyPr>
          <a:lstStyle/>
          <a:p>
            <a:pPr algn="ctr">
              <a:lnSpc>
                <a:spcPct val="100000"/>
              </a:lnSpc>
              <a:spcAft>
                <a:spcPts val="400"/>
              </a:spcAft>
            </a:pPr>
            <a:r>
              <a:rPr sz="1100" b="1" i="0">
                <a:solidFill>
                  <a:srgbClr val="7A5C00"/>
                </a:solidFill>
                <a:latin typeface="Montserrat"/>
              </a:rPr>
              <a:t>★ Bằng khen Thủ tướng Chính phủ — 2014</a:t>
            </a:r>
          </a:p>
        </p:txBody>
      </p:sp>
      <p:sp>
        <p:nvSpPr>
          <p:cNvPr id="34" name="Rounded Rectangle 33"/>
          <p:cNvSpPr/>
          <p:nvPr/>
        </p:nvSpPr>
        <p:spPr>
          <a:xfrm>
            <a:off x="7909560" y="5989320"/>
            <a:ext cx="3291840" cy="457200"/>
          </a:xfrm>
          <a:prstGeom prst="roundRect">
            <a:avLst/>
          </a:prstGeom>
          <a:solidFill>
            <a:srgbClr val="FFF6DC"/>
          </a:solidFill>
          <a:ln w="15240">
            <a:solidFill>
              <a:srgbClr val="D99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09560" y="6053328"/>
            <a:ext cx="3291840" cy="347472"/>
          </a:xfrm>
          <a:prstGeom prst="rect">
            <a:avLst/>
          </a:prstGeom>
          <a:noFill/>
        </p:spPr>
        <p:txBody>
          <a:bodyPr wrap="square" anchor="t">
            <a:spAutoFit/>
          </a:bodyPr>
          <a:lstStyle/>
          <a:p>
            <a:pPr algn="ctr">
              <a:lnSpc>
                <a:spcPct val="100000"/>
              </a:lnSpc>
              <a:spcAft>
                <a:spcPts val="400"/>
              </a:spcAft>
            </a:pPr>
            <a:r>
              <a:rPr sz="1100" b="1" i="0">
                <a:solidFill>
                  <a:srgbClr val="7A5C00"/>
                </a:solidFill>
                <a:latin typeface="Montserrat"/>
              </a:rPr>
              <a:t>★ 40 lớp · hơn 1.800 HS (thời kỳ liên cấp)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2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784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201168"/>
            <a:ext cx="10515600" cy="548640"/>
          </a:xfrm>
          <a:prstGeom prst="rect">
            <a:avLst/>
          </a:prstGeom>
          <a:noFill/>
        </p:spPr>
        <p:txBody>
          <a:bodyPr wrap="square" anchor="t">
            <a:spAutoFit/>
          </a:bodyPr>
          <a:lstStyle/>
          <a:p>
            <a:pPr algn="l">
              <a:lnSpc>
                <a:spcPct val="100000"/>
              </a:lnSpc>
              <a:spcAft>
                <a:spcPts val="400"/>
              </a:spcAft>
            </a:pPr>
            <a:r>
              <a:rPr sz="2300" b="1" i="0">
                <a:solidFill>
                  <a:srgbClr val="FFFFFF"/>
                </a:solidFill>
                <a:latin typeface="Montserrat"/>
              </a:rPr>
              <a:t>TỔNG KẾT · BỐN PHẨM CHẤT — MỘT NGỌN LỬA</a:t>
            </a:r>
          </a:p>
        </p:txBody>
      </p:sp>
      <p:sp>
        <p:nvSpPr>
          <p:cNvPr id="5" name="Rounded Rectangle 4"/>
          <p:cNvSpPr/>
          <p:nvPr/>
        </p:nvSpPr>
        <p:spPr>
          <a:xfrm>
            <a:off x="548640" y="1371600"/>
            <a:ext cx="3200400" cy="22402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91440" cy="22402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77240" y="160020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ontserrat"/>
              </a:rPr>
              <a:t>01</a:t>
            </a:r>
          </a:p>
        </p:txBody>
      </p:sp>
      <p:sp>
        <p:nvSpPr>
          <p:cNvPr id="8" name="TextBox 7"/>
          <p:cNvSpPr txBox="1"/>
          <p:nvPr/>
        </p:nvSpPr>
        <p:spPr>
          <a:xfrm>
            <a:off x="777240" y="2212848"/>
            <a:ext cx="2743200" cy="685800"/>
          </a:xfrm>
          <a:prstGeom prst="rect">
            <a:avLst/>
          </a:prstGeom>
          <a:noFill/>
        </p:spPr>
        <p:txBody>
          <a:bodyPr wrap="square" anchor="t">
            <a:spAutoFit/>
          </a:bodyPr>
          <a:lstStyle/>
          <a:p>
            <a:pPr algn="l">
              <a:lnSpc>
                <a:spcPct val="100000"/>
              </a:lnSpc>
              <a:spcAft>
                <a:spcPts val="400"/>
              </a:spcAft>
            </a:pPr>
            <a:r>
              <a:rPr sz="1350" b="1" i="0">
                <a:solidFill>
                  <a:srgbClr val="1B2A4A"/>
                </a:solidFill>
                <a:latin typeface="Montserrat"/>
              </a:rPr>
              <a:t>KIÊN TRUNG, BẤT KHUẤT</a:t>
            </a:r>
          </a:p>
        </p:txBody>
      </p:sp>
      <p:sp>
        <p:nvSpPr>
          <p:cNvPr id="9" name="TextBox 8"/>
          <p:cNvSpPr txBox="1"/>
          <p:nvPr/>
        </p:nvSpPr>
        <p:spPr>
          <a:xfrm>
            <a:off x="777240" y="2852928"/>
            <a:ext cx="2743200" cy="640080"/>
          </a:xfrm>
          <a:prstGeom prst="rect">
            <a:avLst/>
          </a:prstGeom>
          <a:noFill/>
        </p:spPr>
        <p:txBody>
          <a:bodyPr wrap="square" anchor="t">
            <a:spAutoFit/>
          </a:bodyPr>
          <a:lstStyle/>
          <a:p>
            <a:pPr algn="l">
              <a:lnSpc>
                <a:spcPct val="100000"/>
              </a:lnSpc>
              <a:spcAft>
                <a:spcPts val="400"/>
              </a:spcAft>
            </a:pPr>
            <a:r>
              <a:rPr sz="1050" b="0" i="0">
                <a:solidFill>
                  <a:srgbClr val="6E6250"/>
                </a:solidFill>
                <a:latin typeface="Be Vietnam Pro"/>
              </a:rPr>
              <a:t>Không gục ngã trước họng súng Tương Mai</a:t>
            </a:r>
          </a:p>
        </p:txBody>
      </p:sp>
      <p:sp>
        <p:nvSpPr>
          <p:cNvPr id="10" name="Rounded Rectangle 9"/>
          <p:cNvSpPr/>
          <p:nvPr/>
        </p:nvSpPr>
        <p:spPr>
          <a:xfrm>
            <a:off x="3886200" y="1371600"/>
            <a:ext cx="3200400" cy="22402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86200" y="1371600"/>
            <a:ext cx="91440" cy="22402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114800" y="160020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ontserrat"/>
              </a:rPr>
              <a:t>02</a:t>
            </a:r>
          </a:p>
        </p:txBody>
      </p:sp>
      <p:sp>
        <p:nvSpPr>
          <p:cNvPr id="13" name="TextBox 12"/>
          <p:cNvSpPr txBox="1"/>
          <p:nvPr/>
        </p:nvSpPr>
        <p:spPr>
          <a:xfrm>
            <a:off x="4114800" y="2212848"/>
            <a:ext cx="2743200" cy="685800"/>
          </a:xfrm>
          <a:prstGeom prst="rect">
            <a:avLst/>
          </a:prstGeom>
          <a:noFill/>
        </p:spPr>
        <p:txBody>
          <a:bodyPr wrap="square" anchor="t">
            <a:spAutoFit/>
          </a:bodyPr>
          <a:lstStyle/>
          <a:p>
            <a:pPr algn="l">
              <a:lnSpc>
                <a:spcPct val="100000"/>
              </a:lnSpc>
              <a:spcAft>
                <a:spcPts val="400"/>
              </a:spcAft>
            </a:pPr>
            <a:r>
              <a:rPr sz="1350" b="1" i="0">
                <a:solidFill>
                  <a:srgbClr val="1B2A4A"/>
                </a:solidFill>
                <a:latin typeface="Montserrat"/>
              </a:rPr>
              <a:t>TẬN TỤY, TRÁCH NHIỆM</a:t>
            </a:r>
          </a:p>
        </p:txBody>
      </p:sp>
      <p:sp>
        <p:nvSpPr>
          <p:cNvPr id="14" name="TextBox 13"/>
          <p:cNvSpPr txBox="1"/>
          <p:nvPr/>
        </p:nvSpPr>
        <p:spPr>
          <a:xfrm>
            <a:off x="4114800" y="2852928"/>
            <a:ext cx="2743200" cy="640080"/>
          </a:xfrm>
          <a:prstGeom prst="rect">
            <a:avLst/>
          </a:prstGeom>
          <a:noFill/>
        </p:spPr>
        <p:txBody>
          <a:bodyPr wrap="square" anchor="t">
            <a:spAutoFit/>
          </a:bodyPr>
          <a:lstStyle/>
          <a:p>
            <a:pPr algn="l">
              <a:lnSpc>
                <a:spcPct val="100000"/>
              </a:lnSpc>
              <a:spcAft>
                <a:spcPts val="400"/>
              </a:spcAft>
            </a:pPr>
            <a:r>
              <a:rPr sz="1050" b="0" i="0">
                <a:solidFill>
                  <a:srgbClr val="6E6250"/>
                </a:solidFill>
                <a:latin typeface="Be Vietnam Pro"/>
              </a:rPr>
              <a:t>Trọn đời vì sự nghiệp cách mạng</a:t>
            </a:r>
          </a:p>
        </p:txBody>
      </p:sp>
      <p:sp>
        <p:nvSpPr>
          <p:cNvPr id="15" name="Rounded Rectangle 14"/>
          <p:cNvSpPr/>
          <p:nvPr/>
        </p:nvSpPr>
        <p:spPr>
          <a:xfrm>
            <a:off x="548640" y="3794760"/>
            <a:ext cx="3200400" cy="22402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94760"/>
            <a:ext cx="91440" cy="22402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77240" y="402336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ontserrat"/>
              </a:rPr>
              <a:t>03</a:t>
            </a:r>
          </a:p>
        </p:txBody>
      </p:sp>
      <p:sp>
        <p:nvSpPr>
          <p:cNvPr id="18" name="TextBox 17"/>
          <p:cNvSpPr txBox="1"/>
          <p:nvPr/>
        </p:nvSpPr>
        <p:spPr>
          <a:xfrm>
            <a:off x="777240" y="4636008"/>
            <a:ext cx="2743200" cy="685800"/>
          </a:xfrm>
          <a:prstGeom prst="rect">
            <a:avLst/>
          </a:prstGeom>
          <a:noFill/>
        </p:spPr>
        <p:txBody>
          <a:bodyPr wrap="square" anchor="t">
            <a:spAutoFit/>
          </a:bodyPr>
          <a:lstStyle/>
          <a:p>
            <a:pPr algn="l">
              <a:lnSpc>
                <a:spcPct val="100000"/>
              </a:lnSpc>
              <a:spcAft>
                <a:spcPts val="400"/>
              </a:spcAft>
            </a:pPr>
            <a:r>
              <a:rPr sz="1350" b="1" i="0">
                <a:solidFill>
                  <a:srgbClr val="1B2A4A"/>
                </a:solidFill>
                <a:latin typeface="Montserrat"/>
              </a:rPr>
              <a:t>TÀI NĂNG TỔ CHỨC &amp; LÃNH ĐẠO</a:t>
            </a:r>
          </a:p>
        </p:txBody>
      </p:sp>
      <p:sp>
        <p:nvSpPr>
          <p:cNvPr id="19" name="TextBox 18"/>
          <p:cNvSpPr txBox="1"/>
          <p:nvPr/>
        </p:nvSpPr>
        <p:spPr>
          <a:xfrm>
            <a:off x="777240" y="5276088"/>
            <a:ext cx="2743200" cy="640080"/>
          </a:xfrm>
          <a:prstGeom prst="rect">
            <a:avLst/>
          </a:prstGeom>
          <a:noFill/>
        </p:spPr>
        <p:txBody>
          <a:bodyPr wrap="square" anchor="t">
            <a:spAutoFit/>
          </a:bodyPr>
          <a:lstStyle/>
          <a:p>
            <a:pPr algn="l">
              <a:lnSpc>
                <a:spcPct val="100000"/>
              </a:lnSpc>
              <a:spcAft>
                <a:spcPts val="400"/>
              </a:spcAft>
            </a:pPr>
            <a:r>
              <a:rPr sz="1050" b="0" i="0">
                <a:solidFill>
                  <a:srgbClr val="6E6250"/>
                </a:solidFill>
                <a:latin typeface="Be Vietnam Pro"/>
              </a:rPr>
              <a:t>Cơ sở Long Châu, mạng lưới bí mật</a:t>
            </a:r>
          </a:p>
        </p:txBody>
      </p:sp>
      <p:sp>
        <p:nvSpPr>
          <p:cNvPr id="20" name="Rounded Rectangle 19"/>
          <p:cNvSpPr/>
          <p:nvPr/>
        </p:nvSpPr>
        <p:spPr>
          <a:xfrm>
            <a:off x="3886200" y="3794760"/>
            <a:ext cx="3200400" cy="2240280"/>
          </a:xfrm>
          <a:prstGeom prst="roundRect">
            <a:avLst/>
          </a:prstGeom>
          <a:solidFill>
            <a:srgbClr val="FFFFFF"/>
          </a:solidFill>
          <a:ln w="12700">
            <a:solidFill>
              <a:srgbClr val="E7DEC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86200" y="3794760"/>
            <a:ext cx="91440" cy="2240280"/>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114800" y="4023360"/>
            <a:ext cx="457200" cy="45720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Montserrat"/>
              </a:rPr>
              <a:t>04</a:t>
            </a:r>
          </a:p>
        </p:txBody>
      </p:sp>
      <p:sp>
        <p:nvSpPr>
          <p:cNvPr id="23" name="TextBox 22"/>
          <p:cNvSpPr txBox="1"/>
          <p:nvPr/>
        </p:nvSpPr>
        <p:spPr>
          <a:xfrm>
            <a:off x="4114800" y="4636008"/>
            <a:ext cx="2743200" cy="685800"/>
          </a:xfrm>
          <a:prstGeom prst="rect">
            <a:avLst/>
          </a:prstGeom>
          <a:noFill/>
        </p:spPr>
        <p:txBody>
          <a:bodyPr wrap="square" anchor="t">
            <a:spAutoFit/>
          </a:bodyPr>
          <a:lstStyle/>
          <a:p>
            <a:pPr algn="l">
              <a:lnSpc>
                <a:spcPct val="100000"/>
              </a:lnSpc>
              <a:spcAft>
                <a:spcPts val="400"/>
              </a:spcAft>
            </a:pPr>
            <a:r>
              <a:rPr sz="1350" b="1" i="0">
                <a:solidFill>
                  <a:srgbClr val="1B2A4A"/>
                </a:solidFill>
                <a:latin typeface="Montserrat"/>
              </a:rPr>
              <a:t>YÊU NƯỚC &amp; TIN TẤT THẮNG</a:t>
            </a:r>
          </a:p>
        </p:txBody>
      </p:sp>
      <p:sp>
        <p:nvSpPr>
          <p:cNvPr id="24" name="TextBox 23"/>
          <p:cNvSpPr txBox="1"/>
          <p:nvPr/>
        </p:nvSpPr>
        <p:spPr>
          <a:xfrm>
            <a:off x="4114800" y="5276088"/>
            <a:ext cx="2743200" cy="640080"/>
          </a:xfrm>
          <a:prstGeom prst="rect">
            <a:avLst/>
          </a:prstGeom>
          <a:noFill/>
        </p:spPr>
        <p:txBody>
          <a:bodyPr wrap="square" anchor="t">
            <a:spAutoFit/>
          </a:bodyPr>
          <a:lstStyle/>
          <a:p>
            <a:pPr algn="l">
              <a:lnSpc>
                <a:spcPct val="100000"/>
              </a:lnSpc>
              <a:spcAft>
                <a:spcPts val="400"/>
              </a:spcAft>
            </a:pPr>
            <a:r>
              <a:rPr sz="1050" b="0" i="0">
                <a:solidFill>
                  <a:srgbClr val="6E6250"/>
                </a:solidFill>
                <a:latin typeface="Be Vietnam Pro"/>
              </a:rPr>
              <a:t>"Nhắn bạn" viết từ xà lim số 1</a:t>
            </a:r>
          </a:p>
        </p:txBody>
      </p:sp>
      <p:sp>
        <p:nvSpPr>
          <p:cNvPr id="25" name="Rounded Rectangle 24"/>
          <p:cNvSpPr/>
          <p:nvPr/>
        </p:nvSpPr>
        <p:spPr>
          <a:xfrm>
            <a:off x="7635240" y="1371600"/>
            <a:ext cx="4023360" cy="46634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5-Point Star 25"/>
          <p:cNvSpPr/>
          <p:nvPr/>
        </p:nvSpPr>
        <p:spPr>
          <a:xfrm>
            <a:off x="10972800" y="1508760"/>
            <a:ext cx="502920" cy="502920"/>
          </a:xfrm>
          <a:prstGeom prst="star5">
            <a:avLst/>
          </a:prstGeom>
          <a:solidFill>
            <a:srgbClr val="3A4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955279" y="1600200"/>
            <a:ext cx="3474720" cy="320040"/>
          </a:xfrm>
          <a:prstGeom prst="rect">
            <a:avLst/>
          </a:prstGeom>
          <a:noFill/>
        </p:spPr>
        <p:txBody>
          <a:bodyPr wrap="square" anchor="t">
            <a:spAutoFit/>
          </a:bodyPr>
          <a:lstStyle/>
          <a:p>
            <a:pPr algn="l">
              <a:lnSpc>
                <a:spcPct val="100000"/>
              </a:lnSpc>
              <a:spcAft>
                <a:spcPts val="400"/>
              </a:spcAft>
            </a:pPr>
            <a:r>
              <a:rPr sz="1200" b="1" i="0">
                <a:solidFill>
                  <a:srgbClr val="F2B705"/>
                </a:solidFill>
                <a:latin typeface="Montserrat"/>
              </a:rPr>
              <a:t>THÔNG ĐIỆP</a:t>
            </a:r>
          </a:p>
        </p:txBody>
      </p:sp>
      <p:sp>
        <p:nvSpPr>
          <p:cNvPr id="28" name="TextBox 27"/>
          <p:cNvSpPr txBox="1"/>
          <p:nvPr/>
        </p:nvSpPr>
        <p:spPr>
          <a:xfrm>
            <a:off x="7955279" y="2011680"/>
            <a:ext cx="3429000" cy="2377440"/>
          </a:xfrm>
          <a:prstGeom prst="rect">
            <a:avLst/>
          </a:prstGeom>
          <a:noFill/>
        </p:spPr>
        <p:txBody>
          <a:bodyPr wrap="square" anchor="t">
            <a:spAutoFit/>
          </a:bodyPr>
          <a:lstStyle/>
          <a:p>
            <a:pPr algn="l">
              <a:lnSpc>
                <a:spcPct val="135000"/>
              </a:lnSpc>
              <a:spcAft>
                <a:spcPts val="400"/>
              </a:spcAft>
            </a:pPr>
            <a:r>
              <a:rPr sz="1700" b="0" i="1">
                <a:solidFill>
                  <a:srgbClr val="F7F2E7"/>
                </a:solidFill>
                <a:latin typeface="Playfair Display"/>
              </a:rPr>
              <a:t>"Từ xà lim số 1 đến phòng học đầy nắng — ngọn lửa năm 1944 vẫn cháy trong mái trường mang tên Người."</a:t>
            </a:r>
          </a:p>
        </p:txBody>
      </p:sp>
      <p:sp>
        <p:nvSpPr>
          <p:cNvPr id="29" name="Rounded Rectangle 28"/>
          <p:cNvSpPr/>
          <p:nvPr/>
        </p:nvSpPr>
        <p:spPr>
          <a:xfrm>
            <a:off x="7955279" y="5212080"/>
            <a:ext cx="3383280" cy="566928"/>
          </a:xfrm>
          <a:prstGeom prst="round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79" y="5321808"/>
            <a:ext cx="3383280" cy="384048"/>
          </a:xfrm>
          <a:prstGeom prst="rect">
            <a:avLst/>
          </a:prstGeom>
          <a:noFill/>
        </p:spPr>
        <p:txBody>
          <a:bodyPr wrap="square" anchor="t">
            <a:spAutoFit/>
          </a:bodyPr>
          <a:lstStyle/>
          <a:p>
            <a:pPr algn="ctr">
              <a:lnSpc>
                <a:spcPct val="100000"/>
              </a:lnSpc>
              <a:spcAft>
                <a:spcPts val="400"/>
              </a:spcAft>
            </a:pPr>
            <a:r>
              <a:rPr sz="1300" b="1" i="0">
                <a:solidFill>
                  <a:srgbClr val="1B2A4A"/>
                </a:solidFill>
                <a:latin typeface="Montserrat"/>
              </a:rPr>
              <a:t>XIN CẢM ƠN THẦY CÔ &amp; CÁC BẠN!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Hoàng Văn Thụ (1909-1944) &amp; Trường THPT Hoàng Văn Thụ — 5 slide</dc:title>
  <dc:subject/>
  <dc:creator>Nhóm học sinh THPT Hoàng Văn Thụ</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